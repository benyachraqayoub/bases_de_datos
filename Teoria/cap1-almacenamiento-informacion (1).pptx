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22"/>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C34B8F0D-534D-4717-BB8F-1342CCB078FA}" type="datetimeFigureOut">
              <a:t>9/18/2026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7C10A4B3-4E79-4742-82CB-1ECABA5F90E1}" type="slidenum">
              <a:t>‹#›</a:t>
            </a:fld>
            <a:endParaRPr lang="en-US"/>
          </a:p>
        </p:txBody>
      </p:sp>
    </p:spTree>
    <p:extLst>
      <p:ext uri="{BB962C8B-B14F-4D97-AF65-F5344CB8AC3E}">
        <p14:creationId xmlns:p14="http://schemas.microsoft.com/office/powerpoint/2010/main" val="24834387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DDDDDD"/>
        </a:solidFill>
        <a:effectLst/>
      </p:bgPr>
    </p:bg>
    <p:spTree>
      <p:nvGrpSpPr>
        <p:cNvPr id="1" name=""/>
        <p:cNvGrpSpPr/>
        <p:nvPr/>
      </p:nvGrpSpPr>
      <p:grpSpPr>
        <a:xfrm>
          <a:off x="0" y="0"/>
          <a:ext cx="0" cy="0"/>
          <a:chOff x="0" y="0"/>
          <a:chExt cx="0" cy="0"/>
        </a:xfrm>
      </p:grpSpPr>
      <p:sp>
        <p:nvSpPr>
          <p:cNvPr id="2" name="Text 0"/>
          <p:cNvSpPr txBox="1"/>
          <p:nvPr/>
        </p:nvSpPr>
        <p:spPr>
          <a:xfrm>
            <a:off x="548640" y="1371600"/>
            <a:ext cx="7315200" cy="365760"/>
          </a:xfrm>
          <a:prstGeom prst="rect">
            <a:avLst/>
          </a:prstGeom>
          <a:noFill/>
          <a:ln/>
        </p:spPr>
        <p:txBody>
          <a:bodyPr wrap="square" lIns="0" tIns="0" rIns="0" bIns="0" rtlCol="0" anchor="ctr"/>
          <a:lstStyle/>
          <a:p>
            <a:pPr marL="0" indent="0">
              <a:buNone/>
            </a:pPr>
            <a:r>
              <a:rPr lang="en-US" sz="1300" b="1" kern="0" spc="100">
                <a:solidFill>
                  <a:srgbClr val="028090"/>
                </a:solidFill>
                <a:latin typeface="Arial" pitchFamily="34" charset="0"/>
                <a:ea typeface="Arial" pitchFamily="34" charset="-122"/>
                <a:cs typeface="Arial" pitchFamily="34" charset="-120"/>
              </a:rPr>
              <a:t>CAPÍTULO 1 DE 7</a:t>
            </a:r>
            <a:endParaRPr lang="en-US" sz="1300"/>
          </a:p>
        </p:txBody>
      </p:sp>
      <p:sp>
        <p:nvSpPr>
          <p:cNvPr id="3" name="Text 1"/>
          <p:cNvSpPr txBox="1"/>
          <p:nvPr/>
        </p:nvSpPr>
        <p:spPr>
          <a:xfrm>
            <a:off x="548640" y="1783080"/>
            <a:ext cx="10058400" cy="1188720"/>
          </a:xfrm>
          <a:prstGeom prst="rect">
            <a:avLst/>
          </a:prstGeom>
          <a:noFill/>
          <a:ln/>
        </p:spPr>
        <p:txBody>
          <a:bodyPr wrap="square" lIns="0" tIns="0" rIns="0" bIns="0" rtlCol="0" anchor="ctr"/>
          <a:lstStyle/>
          <a:p>
            <a:pPr marL="0" indent="0">
              <a:buNone/>
            </a:pPr>
            <a:r>
              <a:rPr lang="en-US" sz="3800" b="1">
                <a:solidFill>
                  <a:srgbClr val="1A1A1A"/>
                </a:solidFill>
                <a:latin typeface="Arial" pitchFamily="34" charset="0"/>
                <a:ea typeface="Arial" pitchFamily="34" charset="-122"/>
                <a:cs typeface="Arial" pitchFamily="34" charset="-120"/>
              </a:rPr>
              <a:t>Almacenamiento de la información</a:t>
            </a:r>
            <a:endParaRPr lang="en-US" sz="3800"/>
          </a:p>
        </p:txBody>
      </p:sp>
      <p:sp>
        <p:nvSpPr>
          <p:cNvPr id="4" name="Text 2"/>
          <p:cNvSpPr txBox="1"/>
          <p:nvPr/>
        </p:nvSpPr>
        <p:spPr>
          <a:xfrm>
            <a:off x="548640" y="2834640"/>
            <a:ext cx="9601200" cy="548640"/>
          </a:xfrm>
          <a:prstGeom prst="rect">
            <a:avLst/>
          </a:prstGeom>
          <a:noFill/>
          <a:ln/>
        </p:spPr>
        <p:txBody>
          <a:bodyPr wrap="square" lIns="0" tIns="0" rIns="0" bIns="0" rtlCol="0" anchor="ctr"/>
          <a:lstStyle/>
          <a:p>
            <a:pPr marL="0" indent="0">
              <a:lnSpc>
                <a:spcPct val="120000"/>
              </a:lnSpc>
              <a:buNone/>
            </a:pPr>
            <a:r>
              <a:rPr lang="en-US" sz="1400">
                <a:solidFill>
                  <a:srgbClr val="444444"/>
                </a:solidFill>
                <a:latin typeface="Arial" pitchFamily="34" charset="0"/>
                <a:ea typeface="Arial" pitchFamily="34" charset="-122"/>
                <a:cs typeface="Arial" pitchFamily="34" charset="-120"/>
              </a:rPr>
              <a:t>Antes de tocar una sola tabla: qué es una base de datos, quién la gestiona por debajo, cómo se organiza y qué normas hay que respetar.</a:t>
            </a:r>
            <a:endParaRPr lang="en-US" sz="1400"/>
          </a:p>
        </p:txBody>
      </p:sp>
      <p:sp>
        <p:nvSpPr>
          <p:cNvPr id="5" name="Shape 3"/>
          <p:cNvSpPr/>
          <p:nvPr/>
        </p:nvSpPr>
        <p:spPr>
          <a:xfrm>
            <a:off x="548640" y="3611880"/>
            <a:ext cx="1097280" cy="457200"/>
          </a:xfrm>
          <a:prstGeom prst="roundRect">
            <a:avLst>
              <a:gd name="adj" fmla="val 50000"/>
            </a:avLst>
          </a:prstGeom>
          <a:solidFill>
            <a:srgbClr val="028090"/>
          </a:solidFill>
          <a:ln/>
        </p:spPr>
      </p:sp>
      <p:sp>
        <p:nvSpPr>
          <p:cNvPr id="6" name="Text 4"/>
          <p:cNvSpPr txBox="1"/>
          <p:nvPr/>
        </p:nvSpPr>
        <p:spPr>
          <a:xfrm>
            <a:off x="548640" y="3611880"/>
            <a:ext cx="1097280" cy="457200"/>
          </a:xfrm>
          <a:prstGeom prst="rect">
            <a:avLst/>
          </a:prstGeom>
          <a:noFill/>
          <a:ln/>
        </p:spPr>
        <p:txBody>
          <a:bodyPr wrap="square" lIns="0" tIns="0" rIns="0" bIns="0" rtlCol="0" anchor="ctr"/>
          <a:lstStyle/>
          <a:p>
            <a:pPr marL="0" indent="0" algn="ctr">
              <a:buNone/>
            </a:pPr>
            <a:r>
              <a:rPr lang="en-US" sz="1150" b="1">
                <a:solidFill>
                  <a:srgbClr val="FFFFFF"/>
                </a:solidFill>
                <a:latin typeface="Arial" pitchFamily="34" charset="0"/>
                <a:ea typeface="Arial" pitchFamily="34" charset="-122"/>
                <a:cs typeface="Arial" pitchFamily="34" charset="-120"/>
              </a:rPr>
              <a:t>10 horas</a:t>
            </a:r>
            <a:endParaRPr lang="en-US" sz="1150"/>
          </a:p>
        </p:txBody>
      </p:sp>
      <p:sp>
        <p:nvSpPr>
          <p:cNvPr id="7" name="Shape 5"/>
          <p:cNvSpPr/>
          <p:nvPr/>
        </p:nvSpPr>
        <p:spPr>
          <a:xfrm>
            <a:off x="1828800" y="3611880"/>
            <a:ext cx="640080" cy="457200"/>
          </a:xfrm>
          <a:prstGeom prst="roundRect">
            <a:avLst>
              <a:gd name="adj" fmla="val 50000"/>
            </a:avLst>
          </a:prstGeom>
          <a:solidFill>
            <a:srgbClr val="028090"/>
          </a:solidFill>
          <a:ln/>
        </p:spPr>
      </p:sp>
      <p:sp>
        <p:nvSpPr>
          <p:cNvPr id="8" name="Text 6"/>
          <p:cNvSpPr txBox="1"/>
          <p:nvPr/>
        </p:nvSpPr>
        <p:spPr>
          <a:xfrm>
            <a:off x="1828800" y="3611880"/>
            <a:ext cx="640080" cy="457200"/>
          </a:xfrm>
          <a:prstGeom prst="rect">
            <a:avLst/>
          </a:prstGeom>
          <a:noFill/>
          <a:ln/>
        </p:spPr>
        <p:txBody>
          <a:bodyPr wrap="square" lIns="0" tIns="0" rIns="0" bIns="0" rtlCol="0" anchor="ctr"/>
          <a:lstStyle/>
          <a:p>
            <a:pPr marL="0" indent="0" algn="ctr">
              <a:buNone/>
            </a:pPr>
            <a:r>
              <a:rPr lang="en-US" sz="1150" b="1">
                <a:solidFill>
                  <a:srgbClr val="FFFFFF"/>
                </a:solidFill>
                <a:latin typeface="Arial" pitchFamily="34" charset="0"/>
                <a:ea typeface="Arial" pitchFamily="34" charset="-122"/>
                <a:cs typeface="Arial" pitchFamily="34" charset="-120"/>
              </a:rPr>
              <a:t>RA1</a:t>
            </a:r>
            <a:endParaRPr lang="en-US" sz="1150"/>
          </a:p>
        </p:txBody>
      </p:sp>
      <p:sp>
        <p:nvSpPr>
          <p:cNvPr id="9" name="Shape 7"/>
          <p:cNvSpPr/>
          <p:nvPr/>
        </p:nvSpPr>
        <p:spPr>
          <a:xfrm>
            <a:off x="2651760" y="3611880"/>
            <a:ext cx="1371600" cy="457200"/>
          </a:xfrm>
          <a:prstGeom prst="roundRect">
            <a:avLst>
              <a:gd name="adj" fmla="val 50000"/>
            </a:avLst>
          </a:prstGeom>
          <a:solidFill>
            <a:srgbClr val="028090"/>
          </a:solidFill>
          <a:ln/>
        </p:spPr>
      </p:sp>
      <p:sp>
        <p:nvSpPr>
          <p:cNvPr id="10" name="Text 8"/>
          <p:cNvSpPr txBox="1"/>
          <p:nvPr/>
        </p:nvSpPr>
        <p:spPr>
          <a:xfrm>
            <a:off x="2651760" y="3611880"/>
            <a:ext cx="1371600" cy="457200"/>
          </a:xfrm>
          <a:prstGeom prst="rect">
            <a:avLst/>
          </a:prstGeom>
          <a:noFill/>
          <a:ln/>
        </p:spPr>
        <p:txBody>
          <a:bodyPr wrap="square" lIns="0" tIns="0" rIns="0" bIns="0" rtlCol="0" anchor="ctr"/>
          <a:lstStyle/>
          <a:p>
            <a:pPr marL="0" indent="0" algn="ctr">
              <a:buNone/>
            </a:pPr>
            <a:r>
              <a:rPr lang="en-US" sz="1150" b="1">
                <a:solidFill>
                  <a:srgbClr val="FFFFFF"/>
                </a:solidFill>
                <a:latin typeface="Arial" pitchFamily="34" charset="0"/>
                <a:ea typeface="Arial" pitchFamily="34" charset="-122"/>
                <a:cs typeface="Arial" pitchFamily="34" charset="-120"/>
              </a:rPr>
              <a:t>Módulo 0484</a:t>
            </a:r>
            <a:endParaRPr lang="en-US" sz="1150"/>
          </a:p>
        </p:txBody>
      </p:sp>
      <p:sp>
        <p:nvSpPr>
          <p:cNvPr id="11" name="Text 9"/>
          <p:cNvSpPr txBox="1"/>
          <p:nvPr/>
        </p:nvSpPr>
        <p:spPr>
          <a:xfrm>
            <a:off x="457200" y="6510528"/>
            <a:ext cx="7315200" cy="274320"/>
          </a:xfrm>
          <a:prstGeom prst="rect">
            <a:avLst/>
          </a:prstGeom>
          <a:noFill/>
          <a:ln/>
        </p:spPr>
        <p:txBody>
          <a:bodyPr wrap="square" lIns="0" tIns="0" rIns="0" bIns="0" rtlCol="0" anchor="ctr"/>
          <a:lstStyle/>
          <a:p>
            <a:pPr marL="0" indent="0">
              <a:buNone/>
            </a:pPr>
            <a:r>
              <a:rPr lang="en-US" sz="900">
                <a:solidFill>
                  <a:srgbClr val="6B6B6B"/>
                </a:solidFill>
                <a:latin typeface="Arial" pitchFamily="34" charset="0"/>
                <a:ea typeface="Arial" pitchFamily="34" charset="-122"/>
                <a:cs typeface="Arial" pitchFamily="34" charset="-120"/>
              </a:rPr>
              <a:t>Capítulo 1 · Almacenamiento de la información</a:t>
            </a:r>
            <a:endParaRPr lang="en-US" sz="900"/>
          </a:p>
        </p:txBody>
      </p:sp>
      <p:sp>
        <p:nvSpPr>
          <p:cNvPr id="12" name="Text 10"/>
          <p:cNvSpPr txBox="1"/>
          <p:nvPr/>
        </p:nvSpPr>
        <p:spPr>
          <a:xfrm>
            <a:off x="8074152" y="6510528"/>
            <a:ext cx="3657600" cy="274320"/>
          </a:xfrm>
          <a:prstGeom prst="rect">
            <a:avLst/>
          </a:prstGeom>
          <a:noFill/>
          <a:ln/>
        </p:spPr>
        <p:txBody>
          <a:bodyPr wrap="square" lIns="0" tIns="0" rIns="0" bIns="0" rtlCol="0" anchor="ctr"/>
          <a:lstStyle/>
          <a:p>
            <a:pPr marL="0" indent="0" algn="r">
              <a:buNone/>
            </a:pPr>
            <a:r>
              <a:rPr lang="en-US" sz="900">
                <a:solidFill>
                  <a:srgbClr val="6B6B6B"/>
                </a:solidFill>
                <a:latin typeface="Arial" pitchFamily="34" charset="0"/>
                <a:ea typeface="Arial" pitchFamily="34" charset="-122"/>
                <a:cs typeface="Arial" pitchFamily="34" charset="-120"/>
              </a:rPr>
              <a:t>Bases de Datos · DAM/DAW · 0484</a:t>
            </a:r>
            <a:endParaRPr lang="en-US" sz="9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DDDDDD"/>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789920" cy="292608"/>
          </a:xfrm>
          <a:prstGeom prst="rect">
            <a:avLst/>
          </a:prstGeom>
          <a:noFill/>
          <a:ln/>
        </p:spPr>
        <p:txBody>
          <a:bodyPr wrap="square" lIns="0" tIns="0" rIns="0" bIns="0" rtlCol="0" anchor="ctr"/>
          <a:lstStyle/>
          <a:p>
            <a:pPr marL="0" indent="0">
              <a:buNone/>
            </a:pPr>
            <a:r>
              <a:rPr lang="en-US" sz="1150" b="1" kern="0" spc="50">
                <a:solidFill>
                  <a:srgbClr val="028090"/>
                </a:solidFill>
                <a:latin typeface="Arial" pitchFamily="34" charset="0"/>
                <a:ea typeface="Arial" pitchFamily="34" charset="-122"/>
                <a:cs typeface="Arial" pitchFamily="34" charset="-120"/>
              </a:rPr>
              <a:t>1.1 · SPOILER: NO SIEMPRE HUBO BASES DE DATOS</a:t>
            </a:r>
            <a:endParaRPr lang="en-US" sz="1150"/>
          </a:p>
        </p:txBody>
      </p:sp>
      <p:sp>
        <p:nvSpPr>
          <p:cNvPr id="3" name="Text 1"/>
          <p:cNvSpPr txBox="1"/>
          <p:nvPr/>
        </p:nvSpPr>
        <p:spPr>
          <a:xfrm>
            <a:off x="548640" y="621792"/>
            <a:ext cx="10789920" cy="685800"/>
          </a:xfrm>
          <a:prstGeom prst="rect">
            <a:avLst/>
          </a:prstGeom>
          <a:noFill/>
          <a:ln/>
        </p:spPr>
        <p:txBody>
          <a:bodyPr wrap="square" lIns="0" tIns="0" rIns="0" bIns="0" rtlCol="0" anchor="ctr"/>
          <a:lstStyle/>
          <a:p>
            <a:pPr marL="0" indent="0">
              <a:buNone/>
            </a:pPr>
            <a:r>
              <a:rPr lang="en-US" sz="2400" b="1">
                <a:solidFill>
                  <a:srgbClr val="1A1A1A"/>
                </a:solidFill>
                <a:latin typeface="Arial" pitchFamily="34" charset="0"/>
                <a:ea typeface="Arial" pitchFamily="34" charset="-122"/>
                <a:cs typeface="Arial" pitchFamily="34" charset="-120"/>
              </a:rPr>
              <a:t>Cuando todo se guardaba en ficheros</a:t>
            </a:r>
            <a:endParaRPr lang="en-US" sz="2400"/>
          </a:p>
        </p:txBody>
      </p:sp>
      <p:sp>
        <p:nvSpPr>
          <p:cNvPr id="4" name="Text 2"/>
          <p:cNvSpPr txBox="1"/>
          <p:nvPr/>
        </p:nvSpPr>
        <p:spPr>
          <a:xfrm>
            <a:off x="548640" y="1417320"/>
            <a:ext cx="10789920" cy="457200"/>
          </a:xfrm>
          <a:prstGeom prst="rect">
            <a:avLst/>
          </a:prstGeom>
          <a:noFill/>
          <a:ln/>
        </p:spPr>
        <p:txBody>
          <a:bodyPr wrap="square" lIns="0" tIns="0" rIns="0" bIns="0" rtlCol="0" anchor="ctr"/>
          <a:lstStyle/>
          <a:p>
            <a:pPr marL="0" indent="0">
              <a:lnSpc>
                <a:spcPct val="120000"/>
              </a:lnSpc>
              <a:buNone/>
            </a:pPr>
            <a:r>
              <a:rPr lang="en-US" sz="1250" i="1">
                <a:solidFill>
                  <a:srgbClr val="444444"/>
                </a:solidFill>
                <a:latin typeface="Arial" pitchFamily="34" charset="0"/>
                <a:ea typeface="Arial" pitchFamily="34" charset="-122"/>
                <a:cs typeface="Arial" pitchFamily="34" charset="-120"/>
              </a:rPr>
              <a:t>Antes de que existieran los SGBD, los programas guardaban la información directamente en ficheros, sin nada por detrás que los organizara.</a:t>
            </a:r>
            <a:endParaRPr lang="en-US" sz="1250"/>
          </a:p>
        </p:txBody>
      </p:sp>
      <p:sp>
        <p:nvSpPr>
          <p:cNvPr id="5" name="Text 3"/>
          <p:cNvSpPr txBox="1"/>
          <p:nvPr/>
        </p:nvSpPr>
        <p:spPr>
          <a:xfrm>
            <a:off x="548640" y="1920240"/>
            <a:ext cx="10789920" cy="4389120"/>
          </a:xfrm>
          <a:prstGeom prst="rect">
            <a:avLst/>
          </a:prstGeom>
          <a:noFill/>
          <a:ln/>
        </p:spPr>
        <p:txBody>
          <a:bodyPr wrap="square" lIns="0" tIns="0" rIns="0" bIns="0" rtlCol="0" anchor="t"/>
          <a:lstStyle/>
          <a:p>
            <a:pPr marL="342900" indent="-342900">
              <a:lnSpc>
                <a:spcPct val="125000"/>
              </a:lnSpc>
              <a:spcAft>
                <a:spcPts val="1000"/>
              </a:spcAft>
              <a:buSzPct val="100000"/>
              <a:buChar char="•"/>
            </a:pPr>
            <a:r>
              <a:rPr lang="en-US" sz="1350">
                <a:solidFill>
                  <a:srgbClr val="1A1A1A"/>
                </a:solidFill>
                <a:latin typeface="Arial" pitchFamily="34" charset="0"/>
                <a:ea typeface="Arial" pitchFamily="34" charset="-122"/>
                <a:cs typeface="Arial" pitchFamily="34" charset="-120"/>
              </a:rPr>
              <a:t>Ficheros secuenciales (planos): para encontrar un dato hay que leer uno detrás de otro, como pasar hojas de un cuaderno hasta dar con lo que buscas. Es simple, pero lentísimo si el fichero es grande.</a:t>
            </a:r>
            <a:endParaRPr lang="en-US" sz="1350"/>
          </a:p>
          <a:p>
            <a:pPr marL="342900" indent="-342900">
              <a:lnSpc>
                <a:spcPct val="125000"/>
              </a:lnSpc>
              <a:spcAft>
                <a:spcPts val="1000"/>
              </a:spcAft>
              <a:buSzPct val="100000"/>
              <a:buChar char="•"/>
            </a:pPr>
            <a:r>
              <a:rPr lang="en-US" sz="1350">
                <a:solidFill>
                  <a:srgbClr val="1A1A1A"/>
                </a:solidFill>
                <a:latin typeface="Arial" pitchFamily="34" charset="0"/>
                <a:ea typeface="Arial" pitchFamily="34" charset="-122"/>
                <a:cs typeface="Arial" pitchFamily="34" charset="-120"/>
              </a:rPr>
              <a:t>Ficheros indexados: llevan un índice aparte, como el índice de un libro, para no tener que mirar página por página. Ganas velocidad, pero tienes que mantener ese índice actualizado.</a:t>
            </a:r>
            <a:endParaRPr lang="en-US" sz="1350"/>
          </a:p>
          <a:p>
            <a:pPr marL="342900" indent="-342900">
              <a:lnSpc>
                <a:spcPct val="125000"/>
              </a:lnSpc>
              <a:spcAft>
                <a:spcPts val="1000"/>
              </a:spcAft>
              <a:buSzPct val="100000"/>
              <a:buChar char="•"/>
            </a:pPr>
            <a:r>
              <a:rPr lang="en-US" sz="1350">
                <a:solidFill>
                  <a:srgbClr val="1A1A1A"/>
                </a:solidFill>
                <a:latin typeface="Arial" pitchFamily="34" charset="0"/>
                <a:ea typeface="Arial" pitchFamily="34" charset="-122"/>
                <a:cs typeface="Arial" pitchFamily="34" charset="-120"/>
              </a:rPr>
              <a:t>Ficheros de acceso directo (aleatorio): con una clave calculas directamente la posición del dato y saltas ahí, sin recorrer nada de por medio. Es el más rápido, pero el más complicado de programar bien.</a:t>
            </a:r>
            <a:endParaRPr lang="en-US" sz="1350"/>
          </a:p>
          <a:p>
            <a:pPr marL="342900" indent="-342900">
              <a:lnSpc>
                <a:spcPct val="125000"/>
              </a:lnSpc>
              <a:spcAft>
                <a:spcPts val="1000"/>
              </a:spcAft>
              <a:buSzPct val="100000"/>
              <a:buChar char="•"/>
            </a:pPr>
            <a:r>
              <a:rPr lang="en-US" sz="1350">
                <a:solidFill>
                  <a:srgbClr val="1A1A1A"/>
                </a:solidFill>
                <a:latin typeface="Arial" pitchFamily="34" charset="0"/>
                <a:ea typeface="Arial" pitchFamily="34" charset="-122"/>
                <a:cs typeface="Arial" pitchFamily="34" charset="-120"/>
              </a:rPr>
              <a:t>Cada tipo es un equilibrio entre velocidad de búsqueda, espacio ocupado y complejidad de mantenimiento — algo que se repetirá una y otra vez en este módulo.</a:t>
            </a:r>
            <a:endParaRPr lang="en-US" sz="1350"/>
          </a:p>
        </p:txBody>
      </p:sp>
      <p:sp>
        <p:nvSpPr>
          <p:cNvPr id="6" name="Text 4"/>
          <p:cNvSpPr txBox="1"/>
          <p:nvPr/>
        </p:nvSpPr>
        <p:spPr>
          <a:xfrm>
            <a:off x="457200" y="6510528"/>
            <a:ext cx="7315200" cy="274320"/>
          </a:xfrm>
          <a:prstGeom prst="rect">
            <a:avLst/>
          </a:prstGeom>
          <a:noFill/>
          <a:ln/>
        </p:spPr>
        <p:txBody>
          <a:bodyPr wrap="square" lIns="0" tIns="0" rIns="0" bIns="0" rtlCol="0" anchor="ctr"/>
          <a:lstStyle/>
          <a:p>
            <a:pPr marL="0" indent="0">
              <a:buNone/>
            </a:pPr>
            <a:r>
              <a:rPr lang="en-US" sz="900">
                <a:solidFill>
                  <a:srgbClr val="6B6B6B"/>
                </a:solidFill>
                <a:latin typeface="Arial" pitchFamily="34" charset="0"/>
                <a:ea typeface="Arial" pitchFamily="34" charset="-122"/>
                <a:cs typeface="Arial" pitchFamily="34" charset="-120"/>
              </a:rPr>
              <a:t>Cap. 1 · Ficheros</a:t>
            </a:r>
            <a:endParaRPr lang="en-US" sz="900"/>
          </a:p>
        </p:txBody>
      </p:sp>
      <p:sp>
        <p:nvSpPr>
          <p:cNvPr id="7" name="Text 5"/>
          <p:cNvSpPr txBox="1"/>
          <p:nvPr/>
        </p:nvSpPr>
        <p:spPr>
          <a:xfrm>
            <a:off x="8074152" y="6510528"/>
            <a:ext cx="3657600" cy="274320"/>
          </a:xfrm>
          <a:prstGeom prst="rect">
            <a:avLst/>
          </a:prstGeom>
          <a:noFill/>
          <a:ln/>
        </p:spPr>
        <p:txBody>
          <a:bodyPr wrap="square" lIns="0" tIns="0" rIns="0" bIns="0" rtlCol="0" anchor="ctr"/>
          <a:lstStyle/>
          <a:p>
            <a:pPr marL="0" indent="0" algn="r">
              <a:buNone/>
            </a:pPr>
            <a:r>
              <a:rPr lang="en-US" sz="900">
                <a:solidFill>
                  <a:srgbClr val="6B6B6B"/>
                </a:solidFill>
                <a:latin typeface="Arial" pitchFamily="34" charset="0"/>
                <a:ea typeface="Arial" pitchFamily="34" charset="-122"/>
                <a:cs typeface="Arial" pitchFamily="34" charset="-120"/>
              </a:rPr>
              <a:t>Bases de Datos · DAM/DAW</a:t>
            </a:r>
            <a:endParaRPr lang="en-US" sz="9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DDDDDD"/>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789920" cy="292608"/>
          </a:xfrm>
          <a:prstGeom prst="rect">
            <a:avLst/>
          </a:prstGeom>
          <a:noFill/>
          <a:ln/>
        </p:spPr>
        <p:txBody>
          <a:bodyPr wrap="square" lIns="0" tIns="0" rIns="0" bIns="0" rtlCol="0" anchor="ctr"/>
          <a:lstStyle/>
          <a:p>
            <a:pPr marL="0" indent="0">
              <a:buNone/>
            </a:pPr>
            <a:r>
              <a:rPr lang="en-US" sz="1150" b="1" kern="0" spc="50">
                <a:solidFill>
                  <a:srgbClr val="028090"/>
                </a:solidFill>
                <a:latin typeface="Arial" pitchFamily="34" charset="0"/>
                <a:ea typeface="Arial" pitchFamily="34" charset="-122"/>
                <a:cs typeface="Arial" pitchFamily="34" charset="-120"/>
              </a:rPr>
              <a:t>1.1 · POR QUÉ HIZO FALTA ALGO MEJOR</a:t>
            </a:r>
            <a:endParaRPr lang="en-US" sz="1150"/>
          </a:p>
        </p:txBody>
      </p:sp>
      <p:sp>
        <p:nvSpPr>
          <p:cNvPr id="3" name="Text 1"/>
          <p:cNvSpPr txBox="1"/>
          <p:nvPr/>
        </p:nvSpPr>
        <p:spPr>
          <a:xfrm>
            <a:off x="548640" y="621792"/>
            <a:ext cx="10789920" cy="685800"/>
          </a:xfrm>
          <a:prstGeom prst="rect">
            <a:avLst/>
          </a:prstGeom>
          <a:noFill/>
          <a:ln/>
        </p:spPr>
        <p:txBody>
          <a:bodyPr wrap="square" lIns="0" tIns="0" rIns="0" bIns="0" rtlCol="0" anchor="ctr"/>
          <a:lstStyle/>
          <a:p>
            <a:pPr marL="0" indent="0">
              <a:buNone/>
            </a:pPr>
            <a:r>
              <a:rPr lang="en-US" sz="2400" b="1">
                <a:solidFill>
                  <a:srgbClr val="1A1A1A"/>
                </a:solidFill>
                <a:latin typeface="Arial" pitchFamily="34" charset="0"/>
                <a:ea typeface="Arial" pitchFamily="34" charset="-122"/>
                <a:cs typeface="Arial" pitchFamily="34" charset="-120"/>
              </a:rPr>
              <a:t>Ficheros vs. base de datos</a:t>
            </a:r>
            <a:endParaRPr lang="en-US" sz="2400"/>
          </a:p>
        </p:txBody>
      </p:sp>
      <p:sp>
        <p:nvSpPr>
          <p:cNvPr id="4" name="Text 2"/>
          <p:cNvSpPr txBox="1"/>
          <p:nvPr/>
        </p:nvSpPr>
        <p:spPr>
          <a:xfrm>
            <a:off x="548640" y="1417320"/>
            <a:ext cx="10789920" cy="411480"/>
          </a:xfrm>
          <a:prstGeom prst="rect">
            <a:avLst/>
          </a:prstGeom>
          <a:noFill/>
          <a:ln/>
        </p:spPr>
        <p:txBody>
          <a:bodyPr wrap="square" lIns="0" tIns="0" rIns="0" bIns="0" rtlCol="0" anchor="ctr"/>
          <a:lstStyle/>
          <a:p>
            <a:pPr marL="0" indent="0">
              <a:lnSpc>
                <a:spcPct val="120000"/>
              </a:lnSpc>
              <a:buNone/>
            </a:pPr>
            <a:r>
              <a:rPr lang="en-US" sz="1250">
                <a:solidFill>
                  <a:srgbClr val="444444"/>
                </a:solidFill>
                <a:latin typeface="Arial" pitchFamily="34" charset="0"/>
                <a:ea typeface="Arial" pitchFamily="34" charset="-122"/>
                <a:cs typeface="Arial" pitchFamily="34" charset="-120"/>
              </a:rPr>
              <a:t>Los ficheros funcionan, pero cuando varios programas necesitan los mismos datos, empiezan los problemas.</a:t>
            </a:r>
            <a:endParaRPr lang="en-US" sz="125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11064240" cy="2286000"/>
        </p:xfrm>
        <a:graphic>
          <a:graphicData uri="http://schemas.openxmlformats.org/drawingml/2006/table">
            <a:tbl>
              <a:tblPr/>
              <a:tblGrid>
                <a:gridCol w="5303520">
                  <a:extLst>
                    <a:ext uri="{9D8B030D-6E8A-4147-A177-3AD203B41FA5}">
                      <a16:colId xmlns:a16="http://schemas.microsoft.com/office/drawing/2014/main" val="20000"/>
                    </a:ext>
                  </a:extLst>
                </a:gridCol>
                <a:gridCol w="5760720">
                  <a:extLst>
                    <a:ext uri="{9D8B030D-6E8A-4147-A177-3AD203B41FA5}">
                      <a16:colId xmlns:a16="http://schemas.microsoft.com/office/drawing/2014/main" val="20001"/>
                    </a:ext>
                  </a:extLst>
                </a:gridCol>
              </a:tblGrid>
              <a:tr h="457200">
                <a:tc>
                  <a:txBody>
                    <a:bodyPr/>
                    <a:lstStyle/>
                    <a:p>
                      <a:pPr marL="0" indent="0" algn="l">
                        <a:buNone/>
                      </a:pPr>
                      <a:r>
                        <a:rPr lang="en-US" sz="1200" b="1">
                          <a:solidFill>
                            <a:srgbClr val="FFFFFF"/>
                          </a:solidFill>
                          <a:latin typeface="Arial" pitchFamily="34" charset="0"/>
                          <a:ea typeface="Arial" pitchFamily="34" charset="-122"/>
                          <a:cs typeface="Arial" pitchFamily="34" charset="-120"/>
                        </a:rPr>
                        <a:t>Problema con los ficheros</a:t>
                      </a:r>
                      <a:endParaRPr lang="en-US" sz="1200">
                        <a:latin typeface="Arial" charset="0"/>
                        <a:ea typeface="Arial" charset="0"/>
                        <a:cs typeface="Arial"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028090"/>
                    </a:solidFill>
                  </a:tcPr>
                </a:tc>
                <a:tc>
                  <a:txBody>
                    <a:bodyPr/>
                    <a:lstStyle/>
                    <a:p>
                      <a:pPr marL="0" indent="0" algn="l">
                        <a:buNone/>
                      </a:pPr>
                      <a:r>
                        <a:rPr lang="en-US" sz="1200" b="1">
                          <a:solidFill>
                            <a:srgbClr val="FFFFFF"/>
                          </a:solidFill>
                          <a:latin typeface="Arial" pitchFamily="34" charset="0"/>
                          <a:ea typeface="Arial" pitchFamily="34" charset="-122"/>
                          <a:cs typeface="Arial" pitchFamily="34" charset="-120"/>
                        </a:rPr>
                        <a:t>Cómo lo resuelve una base de datos</a:t>
                      </a:r>
                      <a:endParaRPr lang="en-US" sz="1200">
                        <a:latin typeface="Arial" charset="0"/>
                        <a:ea typeface="Arial" charset="0"/>
                        <a:cs typeface="Arial"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028090"/>
                    </a:solidFill>
                  </a:tcPr>
                </a:tc>
                <a:extLst>
                  <a:ext uri="{0D108BD9-81ED-4DB2-BD59-A6C34878D82A}">
                    <a16:rowId xmlns:a16="http://schemas.microsoft.com/office/drawing/2014/main" val="10000"/>
                  </a:ext>
                </a:extLst>
              </a:tr>
              <a:tr h="457200">
                <a:tc>
                  <a:txBody>
                    <a:bodyPr/>
                    <a:lstStyle/>
                    <a:p>
                      <a:pPr marL="0" indent="0" algn="l">
                        <a:buNone/>
                      </a:pPr>
                      <a:r>
                        <a:rPr lang="en-US" sz="1150">
                          <a:solidFill>
                            <a:srgbClr val="1A1A1A"/>
                          </a:solidFill>
                          <a:latin typeface="Arial" pitchFamily="34" charset="0"/>
                          <a:ea typeface="Arial" pitchFamily="34" charset="-122"/>
                          <a:cs typeface="Arial" pitchFamily="34" charset="-120"/>
                        </a:rPr>
                        <a:t>Redundancia: el mismo dato copiado en varios ficheros</a:t>
                      </a:r>
                      <a:endParaRPr lang="en-US" sz="1150">
                        <a:latin typeface="Arial" charset="0"/>
                        <a:ea typeface="Arial" charset="0"/>
                        <a:cs typeface="Arial"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E2EAEA"/>
                    </a:solidFill>
                  </a:tcPr>
                </a:tc>
                <a:tc>
                  <a:txBody>
                    <a:bodyPr/>
                    <a:lstStyle/>
                    <a:p>
                      <a:pPr marL="0" indent="0" algn="l">
                        <a:buNone/>
                      </a:pPr>
                      <a:r>
                        <a:rPr lang="en-US" sz="1150">
                          <a:solidFill>
                            <a:srgbClr val="1A1A1A"/>
                          </a:solidFill>
                          <a:latin typeface="Arial" pitchFamily="34" charset="0"/>
                          <a:ea typeface="Arial" pitchFamily="34" charset="-122"/>
                          <a:cs typeface="Arial" pitchFamily="34" charset="-120"/>
                        </a:rPr>
                        <a:t>Un solo lugar donde vive cada dato, sin copias innecesarias</a:t>
                      </a:r>
                      <a:endParaRPr lang="en-US" sz="1150">
                        <a:latin typeface="Arial" charset="0"/>
                        <a:ea typeface="Arial" charset="0"/>
                        <a:cs typeface="Arial"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E2EAEA"/>
                    </a:solidFill>
                  </a:tcPr>
                </a:tc>
                <a:extLst>
                  <a:ext uri="{0D108BD9-81ED-4DB2-BD59-A6C34878D82A}">
                    <a16:rowId xmlns:a16="http://schemas.microsoft.com/office/drawing/2014/main" val="10001"/>
                  </a:ext>
                </a:extLst>
              </a:tr>
              <a:tr h="457200">
                <a:tc>
                  <a:txBody>
                    <a:bodyPr/>
                    <a:lstStyle/>
                    <a:p>
                      <a:pPr marL="0" indent="0" algn="l">
                        <a:buNone/>
                      </a:pPr>
                      <a:r>
                        <a:rPr lang="en-US" sz="1150">
                          <a:solidFill>
                            <a:srgbClr val="1A1A1A"/>
                          </a:solidFill>
                          <a:latin typeface="Arial" pitchFamily="34" charset="0"/>
                          <a:ea typeface="Arial" pitchFamily="34" charset="-122"/>
                          <a:cs typeface="Arial" pitchFamily="34" charset="-120"/>
                        </a:rPr>
                        <a:t>Dependencia: cada programa conoce la estructura exacta del fichero</a:t>
                      </a:r>
                      <a:endParaRPr lang="en-US" sz="1150">
                        <a:latin typeface="Arial" charset="0"/>
                        <a:ea typeface="Arial" charset="0"/>
                        <a:cs typeface="Arial"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l">
                        <a:buNone/>
                      </a:pPr>
                      <a:r>
                        <a:rPr lang="en-US" sz="1150">
                          <a:solidFill>
                            <a:srgbClr val="1A1A1A"/>
                          </a:solidFill>
                          <a:latin typeface="Arial" pitchFamily="34" charset="0"/>
                          <a:ea typeface="Arial" pitchFamily="34" charset="-122"/>
                          <a:cs typeface="Arial" pitchFamily="34" charset="-120"/>
                        </a:rPr>
                        <a:t>El SGBD separa cómo se guardan los datos de cómo los usa cada programa</a:t>
                      </a:r>
                      <a:endParaRPr lang="en-US" sz="1150">
                        <a:latin typeface="Arial" charset="0"/>
                        <a:ea typeface="Arial" charset="0"/>
                        <a:cs typeface="Arial"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2"/>
                  </a:ext>
                </a:extLst>
              </a:tr>
              <a:tr h="457200">
                <a:tc>
                  <a:txBody>
                    <a:bodyPr/>
                    <a:lstStyle/>
                    <a:p>
                      <a:pPr marL="0" indent="0" algn="l">
                        <a:buNone/>
                      </a:pPr>
                      <a:r>
                        <a:rPr lang="en-US" sz="1150">
                          <a:solidFill>
                            <a:srgbClr val="1A1A1A"/>
                          </a:solidFill>
                          <a:latin typeface="Arial" pitchFamily="34" charset="0"/>
                          <a:ea typeface="Arial" pitchFamily="34" charset="-122"/>
                          <a:cs typeface="Arial" pitchFamily="34" charset="-120"/>
                        </a:rPr>
                        <a:t>Acceso concurrente difícil: dos programas escribiendo a la vez chocan</a:t>
                      </a:r>
                      <a:endParaRPr lang="en-US" sz="1150">
                        <a:latin typeface="Arial" charset="0"/>
                        <a:ea typeface="Arial" charset="0"/>
                        <a:cs typeface="Arial"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E2EAEA"/>
                    </a:solidFill>
                  </a:tcPr>
                </a:tc>
                <a:tc>
                  <a:txBody>
                    <a:bodyPr/>
                    <a:lstStyle/>
                    <a:p>
                      <a:pPr marL="0" indent="0" algn="l">
                        <a:buNone/>
                      </a:pPr>
                      <a:r>
                        <a:rPr lang="en-US" sz="1150">
                          <a:solidFill>
                            <a:srgbClr val="1A1A1A"/>
                          </a:solidFill>
                          <a:latin typeface="Arial" pitchFamily="34" charset="0"/>
                          <a:ea typeface="Arial" pitchFamily="34" charset="-122"/>
                          <a:cs typeface="Arial" pitchFamily="34" charset="-120"/>
                        </a:rPr>
                        <a:t>El SGBD controla quién escribe y cuándo, sin que se pisen los cambios</a:t>
                      </a:r>
                      <a:endParaRPr lang="en-US" sz="1150">
                        <a:latin typeface="Arial" charset="0"/>
                        <a:ea typeface="Arial" charset="0"/>
                        <a:cs typeface="Arial"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E2EAEA"/>
                    </a:solidFill>
                  </a:tcPr>
                </a:tc>
                <a:extLst>
                  <a:ext uri="{0D108BD9-81ED-4DB2-BD59-A6C34878D82A}">
                    <a16:rowId xmlns:a16="http://schemas.microsoft.com/office/drawing/2014/main" val="10003"/>
                  </a:ext>
                </a:extLst>
              </a:tr>
              <a:tr h="457200">
                <a:tc>
                  <a:txBody>
                    <a:bodyPr/>
                    <a:lstStyle/>
                    <a:p>
                      <a:pPr marL="0" indent="0" algn="l">
                        <a:buNone/>
                      </a:pPr>
                      <a:r>
                        <a:rPr lang="en-US" sz="1150">
                          <a:solidFill>
                            <a:srgbClr val="1A1A1A"/>
                          </a:solidFill>
                          <a:latin typeface="Arial" pitchFamily="34" charset="0"/>
                          <a:ea typeface="Arial" pitchFamily="34" charset="-122"/>
                          <a:cs typeface="Arial" pitchFamily="34" charset="-120"/>
                        </a:rPr>
                        <a:t>Sin control centralizado de la integridad</a:t>
                      </a:r>
                      <a:endParaRPr lang="en-US" sz="1150">
                        <a:latin typeface="Arial" charset="0"/>
                        <a:ea typeface="Arial" charset="0"/>
                        <a:cs typeface="Arial"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l">
                        <a:buNone/>
                      </a:pPr>
                      <a:r>
                        <a:rPr lang="en-US" sz="1150">
                          <a:solidFill>
                            <a:srgbClr val="1A1A1A"/>
                          </a:solidFill>
                          <a:latin typeface="Arial" pitchFamily="34" charset="0"/>
                          <a:ea typeface="Arial" pitchFamily="34" charset="-122"/>
                          <a:cs typeface="Arial" pitchFamily="34" charset="-120"/>
                        </a:rPr>
                        <a:t>El SGBD aplica reglas (claves, restricciones...) que nadie puede saltarse</a:t>
                      </a:r>
                      <a:endParaRPr lang="en-US" sz="1150">
                        <a:latin typeface="Arial" charset="0"/>
                        <a:ea typeface="Arial" charset="0"/>
                        <a:cs typeface="Arial"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4"/>
                  </a:ext>
                </a:extLst>
              </a:tr>
            </a:tbl>
          </a:graphicData>
        </a:graphic>
      </p:graphicFrame>
      <p:sp>
        <p:nvSpPr>
          <p:cNvPr id="6" name="Text 3"/>
          <p:cNvSpPr txBox="1"/>
          <p:nvPr/>
        </p:nvSpPr>
        <p:spPr>
          <a:xfrm>
            <a:off x="457200" y="6510528"/>
            <a:ext cx="7315200" cy="274320"/>
          </a:xfrm>
          <a:prstGeom prst="rect">
            <a:avLst/>
          </a:prstGeom>
          <a:noFill/>
          <a:ln/>
        </p:spPr>
        <p:txBody>
          <a:bodyPr wrap="square" lIns="0" tIns="0" rIns="0" bIns="0" rtlCol="0" anchor="ctr"/>
          <a:lstStyle/>
          <a:p>
            <a:pPr marL="0" indent="0">
              <a:buNone/>
            </a:pPr>
            <a:r>
              <a:rPr lang="en-US" sz="900">
                <a:solidFill>
                  <a:srgbClr val="6B6B6B"/>
                </a:solidFill>
                <a:latin typeface="Arial" pitchFamily="34" charset="0"/>
                <a:ea typeface="Arial" pitchFamily="34" charset="-122"/>
                <a:cs typeface="Arial" pitchFamily="34" charset="-120"/>
              </a:rPr>
              <a:t>Cap. 1 · Ficheros vs. BD</a:t>
            </a:r>
            <a:endParaRPr lang="en-US" sz="900"/>
          </a:p>
        </p:txBody>
      </p:sp>
      <p:sp>
        <p:nvSpPr>
          <p:cNvPr id="7" name="Text 4"/>
          <p:cNvSpPr txBox="1"/>
          <p:nvPr/>
        </p:nvSpPr>
        <p:spPr>
          <a:xfrm>
            <a:off x="8074152" y="6510528"/>
            <a:ext cx="3657600" cy="274320"/>
          </a:xfrm>
          <a:prstGeom prst="rect">
            <a:avLst/>
          </a:prstGeom>
          <a:noFill/>
          <a:ln/>
        </p:spPr>
        <p:txBody>
          <a:bodyPr wrap="square" lIns="0" tIns="0" rIns="0" bIns="0" rtlCol="0" anchor="ctr"/>
          <a:lstStyle/>
          <a:p>
            <a:pPr marL="0" indent="0" algn="r">
              <a:buNone/>
            </a:pPr>
            <a:r>
              <a:rPr lang="en-US" sz="900">
                <a:solidFill>
                  <a:srgbClr val="6B6B6B"/>
                </a:solidFill>
                <a:latin typeface="Arial" pitchFamily="34" charset="0"/>
                <a:ea typeface="Arial" pitchFamily="34" charset="-122"/>
                <a:cs typeface="Arial" pitchFamily="34" charset="-120"/>
              </a:rPr>
              <a:t>Bases de Datos · DAM/DAW</a:t>
            </a:r>
            <a:endParaRPr lang="en-US" sz="9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DDDDDD"/>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789920" cy="292608"/>
          </a:xfrm>
          <a:prstGeom prst="rect">
            <a:avLst/>
          </a:prstGeom>
          <a:noFill/>
          <a:ln/>
        </p:spPr>
        <p:txBody>
          <a:bodyPr wrap="square" lIns="0" tIns="0" rIns="0" bIns="0" rtlCol="0" anchor="ctr"/>
          <a:lstStyle/>
          <a:p>
            <a:pPr marL="0" indent="0">
              <a:buNone/>
            </a:pPr>
            <a:r>
              <a:rPr lang="en-US" sz="1150" b="1" kern="0" spc="50">
                <a:solidFill>
                  <a:srgbClr val="028090"/>
                </a:solidFill>
                <a:latin typeface="Arial" pitchFamily="34" charset="0"/>
                <a:ea typeface="Arial" pitchFamily="34" charset="-122"/>
                <a:cs typeface="Arial" pitchFamily="34" charset="-120"/>
              </a:rPr>
              <a:t>EJERCICIO 1.1</a:t>
            </a:r>
            <a:endParaRPr lang="en-US" sz="1150"/>
          </a:p>
        </p:txBody>
      </p:sp>
      <p:sp>
        <p:nvSpPr>
          <p:cNvPr id="3" name="Text 1"/>
          <p:cNvSpPr txBox="1"/>
          <p:nvPr/>
        </p:nvSpPr>
        <p:spPr>
          <a:xfrm>
            <a:off x="548640" y="621792"/>
            <a:ext cx="10789920" cy="685800"/>
          </a:xfrm>
          <a:prstGeom prst="rect">
            <a:avLst/>
          </a:prstGeom>
          <a:noFill/>
          <a:ln/>
        </p:spPr>
        <p:txBody>
          <a:bodyPr wrap="square" lIns="0" tIns="0" rIns="0" bIns="0" rtlCol="0" anchor="ctr"/>
          <a:lstStyle/>
          <a:p>
            <a:pPr marL="0" indent="0">
              <a:buNone/>
            </a:pPr>
            <a:r>
              <a:rPr lang="en-US" sz="2400" b="1">
                <a:solidFill>
                  <a:srgbClr val="1A1A1A"/>
                </a:solidFill>
                <a:latin typeface="Arial" pitchFamily="34" charset="0"/>
                <a:ea typeface="Arial" pitchFamily="34" charset="-122"/>
                <a:cs typeface="Arial" pitchFamily="34" charset="-120"/>
              </a:rPr>
              <a:t>¿Qué tipo de acceso es?</a:t>
            </a:r>
            <a:endParaRPr lang="en-US" sz="2400"/>
          </a:p>
        </p:txBody>
      </p:sp>
      <p:sp>
        <p:nvSpPr>
          <p:cNvPr id="4" name="Text 2"/>
          <p:cNvSpPr txBox="1"/>
          <p:nvPr/>
        </p:nvSpPr>
        <p:spPr>
          <a:xfrm>
            <a:off x="548640" y="1371600"/>
            <a:ext cx="10789920" cy="365760"/>
          </a:xfrm>
          <a:prstGeom prst="rect">
            <a:avLst/>
          </a:prstGeom>
          <a:noFill/>
          <a:ln/>
        </p:spPr>
        <p:txBody>
          <a:bodyPr wrap="square" lIns="0" tIns="0" rIns="0" bIns="0" rtlCol="0" anchor="ctr"/>
          <a:lstStyle/>
          <a:p>
            <a:pPr marL="0" indent="0">
              <a:buNone/>
            </a:pPr>
            <a:r>
              <a:rPr lang="en-US" sz="1200" i="1">
                <a:solidFill>
                  <a:srgbClr val="444444"/>
                </a:solidFill>
                <a:latin typeface="Arial" pitchFamily="34" charset="0"/>
                <a:ea typeface="Arial" pitchFamily="34" charset="-122"/>
                <a:cs typeface="Arial" pitchFamily="34" charset="-120"/>
              </a:rPr>
              <a:t>Para cada situación, decide si es acceso secuencial, indexado o directo. Piensa primero tu respuesta antes de mirar la solución.</a:t>
            </a:r>
            <a:endParaRPr lang="en-US" sz="1200"/>
          </a:p>
        </p:txBody>
      </p:sp>
      <p:sp>
        <p:nvSpPr>
          <p:cNvPr id="5" name="Shape 3"/>
          <p:cNvSpPr/>
          <p:nvPr/>
        </p:nvSpPr>
        <p:spPr>
          <a:xfrm>
            <a:off x="548640" y="1828800"/>
            <a:ext cx="329184" cy="329184"/>
          </a:xfrm>
          <a:prstGeom prst="ellipse">
            <a:avLst/>
          </a:prstGeom>
          <a:solidFill>
            <a:srgbClr val="00A896"/>
          </a:solidFill>
          <a:ln/>
        </p:spPr>
      </p:sp>
      <p:sp>
        <p:nvSpPr>
          <p:cNvPr id="6" name="Text 4"/>
          <p:cNvSpPr txBox="1"/>
          <p:nvPr/>
        </p:nvSpPr>
        <p:spPr>
          <a:xfrm>
            <a:off x="548640" y="1828800"/>
            <a:ext cx="329184" cy="329184"/>
          </a:xfrm>
          <a:prstGeom prst="rect">
            <a:avLst/>
          </a:prstGeom>
          <a:noFill/>
          <a:ln/>
        </p:spPr>
        <p:txBody>
          <a:bodyPr wrap="square" lIns="0" tIns="0" rIns="0" bIns="0" rtlCol="0" anchor="ctr"/>
          <a:lstStyle/>
          <a:p>
            <a:pPr marL="0" indent="0" algn="ctr">
              <a:buNone/>
            </a:pPr>
            <a:r>
              <a:rPr lang="en-US" sz="936" b="1">
                <a:solidFill>
                  <a:srgbClr val="FFFFFF"/>
                </a:solidFill>
                <a:latin typeface="Arial" pitchFamily="34" charset="0"/>
                <a:ea typeface="Arial" pitchFamily="34" charset="-122"/>
                <a:cs typeface="Arial" pitchFamily="34" charset="-120"/>
              </a:rPr>
              <a:t>1</a:t>
            </a:r>
            <a:endParaRPr lang="en-US" sz="936"/>
          </a:p>
        </p:txBody>
      </p:sp>
      <p:sp>
        <p:nvSpPr>
          <p:cNvPr id="7" name="Text 5"/>
          <p:cNvSpPr txBox="1"/>
          <p:nvPr/>
        </p:nvSpPr>
        <p:spPr>
          <a:xfrm>
            <a:off x="1051560" y="1792224"/>
            <a:ext cx="10287000" cy="502920"/>
          </a:xfrm>
          <a:prstGeom prst="rect">
            <a:avLst/>
          </a:prstGeom>
          <a:noFill/>
          <a:ln/>
        </p:spPr>
        <p:txBody>
          <a:bodyPr wrap="square" lIns="0" tIns="0" rIns="0" bIns="0" rtlCol="0" anchor="t"/>
          <a:lstStyle/>
          <a:p>
            <a:pPr marL="0" indent="0">
              <a:lnSpc>
                <a:spcPct val="115000"/>
              </a:lnSpc>
              <a:buNone/>
            </a:pPr>
            <a:r>
              <a:rPr lang="en-US" sz="1250">
                <a:solidFill>
                  <a:srgbClr val="1A1A1A"/>
                </a:solidFill>
                <a:latin typeface="Arial" pitchFamily="34" charset="0"/>
                <a:ea typeface="Arial" pitchFamily="34" charset="-122"/>
                <a:cs typeface="Arial" pitchFamily="34" charset="-120"/>
              </a:rPr>
              <a:t>Buscas una canción en una lista de reproducción sin buscador, escuchando una por una desde el principio hasta encontrarla.</a:t>
            </a:r>
            <a:endParaRPr lang="en-US" sz="1250"/>
          </a:p>
        </p:txBody>
      </p:sp>
      <p:sp>
        <p:nvSpPr>
          <p:cNvPr id="8" name="Shape 6"/>
          <p:cNvSpPr/>
          <p:nvPr/>
        </p:nvSpPr>
        <p:spPr>
          <a:xfrm>
            <a:off x="548640" y="2340864"/>
            <a:ext cx="329184" cy="329184"/>
          </a:xfrm>
          <a:prstGeom prst="ellipse">
            <a:avLst/>
          </a:prstGeom>
          <a:solidFill>
            <a:srgbClr val="00A896"/>
          </a:solidFill>
          <a:ln/>
        </p:spPr>
      </p:sp>
      <p:sp>
        <p:nvSpPr>
          <p:cNvPr id="9" name="Text 7"/>
          <p:cNvSpPr txBox="1"/>
          <p:nvPr/>
        </p:nvSpPr>
        <p:spPr>
          <a:xfrm>
            <a:off x="548640" y="2340864"/>
            <a:ext cx="329184" cy="329184"/>
          </a:xfrm>
          <a:prstGeom prst="rect">
            <a:avLst/>
          </a:prstGeom>
          <a:noFill/>
          <a:ln/>
        </p:spPr>
        <p:txBody>
          <a:bodyPr wrap="square" lIns="0" tIns="0" rIns="0" bIns="0" rtlCol="0" anchor="ctr"/>
          <a:lstStyle/>
          <a:p>
            <a:pPr marL="0" indent="0" algn="ctr">
              <a:buNone/>
            </a:pPr>
            <a:r>
              <a:rPr lang="en-US" sz="936" b="1">
                <a:solidFill>
                  <a:srgbClr val="FFFFFF"/>
                </a:solidFill>
                <a:latin typeface="Arial" pitchFamily="34" charset="0"/>
                <a:ea typeface="Arial" pitchFamily="34" charset="-122"/>
                <a:cs typeface="Arial" pitchFamily="34" charset="-120"/>
              </a:rPr>
              <a:t>2</a:t>
            </a:r>
            <a:endParaRPr lang="en-US" sz="936"/>
          </a:p>
        </p:txBody>
      </p:sp>
      <p:sp>
        <p:nvSpPr>
          <p:cNvPr id="10" name="Text 8"/>
          <p:cNvSpPr txBox="1"/>
          <p:nvPr/>
        </p:nvSpPr>
        <p:spPr>
          <a:xfrm>
            <a:off x="1051560" y="2304288"/>
            <a:ext cx="10287000" cy="502920"/>
          </a:xfrm>
          <a:prstGeom prst="rect">
            <a:avLst/>
          </a:prstGeom>
          <a:noFill/>
          <a:ln/>
        </p:spPr>
        <p:txBody>
          <a:bodyPr wrap="square" lIns="0" tIns="0" rIns="0" bIns="0" rtlCol="0" anchor="t"/>
          <a:lstStyle/>
          <a:p>
            <a:pPr marL="0" indent="0">
              <a:lnSpc>
                <a:spcPct val="115000"/>
              </a:lnSpc>
              <a:buNone/>
            </a:pPr>
            <a:r>
              <a:rPr lang="en-US" sz="1250">
                <a:solidFill>
                  <a:srgbClr val="1A1A1A"/>
                </a:solidFill>
                <a:latin typeface="Arial" pitchFamily="34" charset="0"/>
                <a:ea typeface="Arial" pitchFamily="34" charset="-122"/>
                <a:cs typeface="Arial" pitchFamily="34" charset="-120"/>
              </a:rPr>
              <a:t>Abres la agenda de contactos del móvil y escribes "Mar" para que salte directo a los contactos que empiezan por esas letras.</a:t>
            </a:r>
            <a:endParaRPr lang="en-US" sz="1250"/>
          </a:p>
        </p:txBody>
      </p:sp>
      <p:sp>
        <p:nvSpPr>
          <p:cNvPr id="11" name="Shape 9"/>
          <p:cNvSpPr/>
          <p:nvPr/>
        </p:nvSpPr>
        <p:spPr>
          <a:xfrm>
            <a:off x="548640" y="2852928"/>
            <a:ext cx="329184" cy="329184"/>
          </a:xfrm>
          <a:prstGeom prst="ellipse">
            <a:avLst/>
          </a:prstGeom>
          <a:solidFill>
            <a:srgbClr val="00A896"/>
          </a:solidFill>
          <a:ln/>
        </p:spPr>
      </p:sp>
      <p:sp>
        <p:nvSpPr>
          <p:cNvPr id="12" name="Text 10"/>
          <p:cNvSpPr txBox="1"/>
          <p:nvPr/>
        </p:nvSpPr>
        <p:spPr>
          <a:xfrm>
            <a:off x="548640" y="2852928"/>
            <a:ext cx="329184" cy="329184"/>
          </a:xfrm>
          <a:prstGeom prst="rect">
            <a:avLst/>
          </a:prstGeom>
          <a:noFill/>
          <a:ln/>
        </p:spPr>
        <p:txBody>
          <a:bodyPr wrap="square" lIns="0" tIns="0" rIns="0" bIns="0" rtlCol="0" anchor="ctr"/>
          <a:lstStyle/>
          <a:p>
            <a:pPr marL="0" indent="0" algn="ctr">
              <a:buNone/>
            </a:pPr>
            <a:r>
              <a:rPr lang="en-US" sz="936" b="1">
                <a:solidFill>
                  <a:srgbClr val="FFFFFF"/>
                </a:solidFill>
                <a:latin typeface="Arial" pitchFamily="34" charset="0"/>
                <a:ea typeface="Arial" pitchFamily="34" charset="-122"/>
                <a:cs typeface="Arial" pitchFamily="34" charset="-120"/>
              </a:rPr>
              <a:t>3</a:t>
            </a:r>
            <a:endParaRPr lang="en-US" sz="936"/>
          </a:p>
        </p:txBody>
      </p:sp>
      <p:sp>
        <p:nvSpPr>
          <p:cNvPr id="13" name="Text 11"/>
          <p:cNvSpPr txBox="1"/>
          <p:nvPr/>
        </p:nvSpPr>
        <p:spPr>
          <a:xfrm>
            <a:off x="1051560" y="2816352"/>
            <a:ext cx="10287000" cy="502920"/>
          </a:xfrm>
          <a:prstGeom prst="rect">
            <a:avLst/>
          </a:prstGeom>
          <a:noFill/>
          <a:ln/>
        </p:spPr>
        <p:txBody>
          <a:bodyPr wrap="square" lIns="0" tIns="0" rIns="0" bIns="0" rtlCol="0" anchor="t"/>
          <a:lstStyle/>
          <a:p>
            <a:pPr marL="0" indent="0">
              <a:lnSpc>
                <a:spcPct val="115000"/>
              </a:lnSpc>
              <a:buNone/>
            </a:pPr>
            <a:r>
              <a:rPr lang="en-US" sz="1250">
                <a:solidFill>
                  <a:srgbClr val="1A1A1A"/>
                </a:solidFill>
                <a:latin typeface="Arial" pitchFamily="34" charset="0"/>
                <a:ea typeface="Arial" pitchFamily="34" charset="-122"/>
                <a:cs typeface="Arial" pitchFamily="34" charset="-120"/>
              </a:rPr>
              <a:t>Metes tu número de socio en un cajero de gimnasio y accede directamente a tu ficha, sin mirar las demás.</a:t>
            </a:r>
            <a:endParaRPr lang="en-US" sz="1250"/>
          </a:p>
        </p:txBody>
      </p:sp>
      <p:sp>
        <p:nvSpPr>
          <p:cNvPr id="14" name="Shape 12"/>
          <p:cNvSpPr/>
          <p:nvPr/>
        </p:nvSpPr>
        <p:spPr>
          <a:xfrm>
            <a:off x="548640" y="3364992"/>
            <a:ext cx="329184" cy="329184"/>
          </a:xfrm>
          <a:prstGeom prst="ellipse">
            <a:avLst/>
          </a:prstGeom>
          <a:solidFill>
            <a:srgbClr val="00A896"/>
          </a:solidFill>
          <a:ln/>
        </p:spPr>
      </p:sp>
      <p:sp>
        <p:nvSpPr>
          <p:cNvPr id="15" name="Text 13"/>
          <p:cNvSpPr txBox="1"/>
          <p:nvPr/>
        </p:nvSpPr>
        <p:spPr>
          <a:xfrm>
            <a:off x="548640" y="3364992"/>
            <a:ext cx="329184" cy="329184"/>
          </a:xfrm>
          <a:prstGeom prst="rect">
            <a:avLst/>
          </a:prstGeom>
          <a:noFill/>
          <a:ln/>
        </p:spPr>
        <p:txBody>
          <a:bodyPr wrap="square" lIns="0" tIns="0" rIns="0" bIns="0" rtlCol="0" anchor="ctr"/>
          <a:lstStyle/>
          <a:p>
            <a:pPr marL="0" indent="0" algn="ctr">
              <a:buNone/>
            </a:pPr>
            <a:r>
              <a:rPr lang="en-US" sz="936" b="1">
                <a:solidFill>
                  <a:srgbClr val="FFFFFF"/>
                </a:solidFill>
                <a:latin typeface="Arial" pitchFamily="34" charset="0"/>
                <a:ea typeface="Arial" pitchFamily="34" charset="-122"/>
                <a:cs typeface="Arial" pitchFamily="34" charset="-120"/>
              </a:rPr>
              <a:t>4</a:t>
            </a:r>
            <a:endParaRPr lang="en-US" sz="936"/>
          </a:p>
        </p:txBody>
      </p:sp>
      <p:sp>
        <p:nvSpPr>
          <p:cNvPr id="16" name="Text 14"/>
          <p:cNvSpPr txBox="1"/>
          <p:nvPr/>
        </p:nvSpPr>
        <p:spPr>
          <a:xfrm>
            <a:off x="1051560" y="3328416"/>
            <a:ext cx="10287000" cy="502920"/>
          </a:xfrm>
          <a:prstGeom prst="rect">
            <a:avLst/>
          </a:prstGeom>
          <a:noFill/>
          <a:ln/>
        </p:spPr>
        <p:txBody>
          <a:bodyPr wrap="square" lIns="0" tIns="0" rIns="0" bIns="0" rtlCol="0" anchor="t"/>
          <a:lstStyle/>
          <a:p>
            <a:pPr marL="0" indent="0">
              <a:lnSpc>
                <a:spcPct val="115000"/>
              </a:lnSpc>
              <a:buNone/>
            </a:pPr>
            <a:r>
              <a:rPr lang="en-US" sz="1250">
                <a:solidFill>
                  <a:srgbClr val="1A1A1A"/>
                </a:solidFill>
                <a:latin typeface="Arial" pitchFamily="34" charset="0"/>
                <a:ea typeface="Arial" pitchFamily="34" charset="-122"/>
                <a:cs typeface="Arial" pitchFamily="34" charset="-120"/>
              </a:rPr>
              <a:t>Repasas un cuaderno de apuntes en papel hoja por hoja buscando un tema concreto porque no tiene índice.</a:t>
            </a:r>
            <a:endParaRPr lang="en-US" sz="1250"/>
          </a:p>
        </p:txBody>
      </p:sp>
      <p:sp>
        <p:nvSpPr>
          <p:cNvPr id="17" name="Shape 15"/>
          <p:cNvSpPr/>
          <p:nvPr/>
        </p:nvSpPr>
        <p:spPr>
          <a:xfrm>
            <a:off x="548640" y="4014216"/>
            <a:ext cx="10789920" cy="2249424"/>
          </a:xfrm>
          <a:prstGeom prst="roundRect">
            <a:avLst>
              <a:gd name="adj" fmla="val 3252"/>
            </a:avLst>
          </a:prstGeom>
          <a:solidFill>
            <a:srgbClr val="E2EAEA"/>
          </a:solidFill>
          <a:ln/>
        </p:spPr>
      </p:sp>
      <p:sp>
        <p:nvSpPr>
          <p:cNvPr id="18" name="Text 16"/>
          <p:cNvSpPr txBox="1"/>
          <p:nvPr/>
        </p:nvSpPr>
        <p:spPr>
          <a:xfrm>
            <a:off x="777240" y="4123944"/>
            <a:ext cx="3657600" cy="274320"/>
          </a:xfrm>
          <a:prstGeom prst="rect">
            <a:avLst/>
          </a:prstGeom>
          <a:noFill/>
          <a:ln/>
        </p:spPr>
        <p:txBody>
          <a:bodyPr wrap="square" lIns="0" tIns="0" rIns="0" bIns="0" rtlCol="0" anchor="ctr"/>
          <a:lstStyle/>
          <a:p>
            <a:pPr marL="0" indent="0">
              <a:buNone/>
            </a:pPr>
            <a:r>
              <a:rPr lang="en-US" sz="1050" b="1" kern="0" spc="100">
                <a:solidFill>
                  <a:srgbClr val="028090"/>
                </a:solidFill>
                <a:latin typeface="Arial" pitchFamily="34" charset="0"/>
                <a:ea typeface="Arial" pitchFamily="34" charset="-122"/>
                <a:cs typeface="Arial" pitchFamily="34" charset="-120"/>
              </a:rPr>
              <a:t>SOLUCIÓN</a:t>
            </a:r>
            <a:endParaRPr lang="en-US" sz="1050"/>
          </a:p>
        </p:txBody>
      </p:sp>
      <p:sp>
        <p:nvSpPr>
          <p:cNvPr id="19" name="Text 17"/>
          <p:cNvSpPr txBox="1"/>
          <p:nvPr/>
        </p:nvSpPr>
        <p:spPr>
          <a:xfrm>
            <a:off x="777240" y="4425696"/>
            <a:ext cx="10332720" cy="1746504"/>
          </a:xfrm>
          <a:prstGeom prst="rect">
            <a:avLst/>
          </a:prstGeom>
          <a:noFill/>
          <a:ln/>
        </p:spPr>
        <p:txBody>
          <a:bodyPr wrap="square" lIns="0" tIns="0" rIns="0" bIns="0" rtlCol="0" anchor="t"/>
          <a:lstStyle/>
          <a:p>
            <a:pPr marL="0" indent="0">
              <a:lnSpc>
                <a:spcPct val="120000"/>
              </a:lnSpc>
              <a:spcAft>
                <a:spcPts val="600"/>
              </a:spcAft>
              <a:buNone/>
            </a:pPr>
            <a:r>
              <a:rPr lang="en-US" sz="1150">
                <a:solidFill>
                  <a:srgbClr val="444444"/>
                </a:solidFill>
                <a:latin typeface="Arial" pitchFamily="34" charset="0"/>
                <a:ea typeface="Arial" pitchFamily="34" charset="-122"/>
                <a:cs typeface="Arial" pitchFamily="34" charset="-120"/>
              </a:rPr>
              <a:t>1. Acceso directo: la búsqueda por texto salta directamente a la posición aproximada, como un índice muy afinado.</a:t>
            </a:r>
            <a:endParaRPr lang="en-US" sz="1150"/>
          </a:p>
          <a:p>
            <a:pPr marL="0" indent="0">
              <a:lnSpc>
                <a:spcPct val="120000"/>
              </a:lnSpc>
              <a:spcAft>
                <a:spcPts val="600"/>
              </a:spcAft>
              <a:buNone/>
            </a:pPr>
            <a:r>
              <a:rPr lang="en-US" sz="1150">
                <a:solidFill>
                  <a:srgbClr val="444444"/>
                </a:solidFill>
                <a:latin typeface="Arial" pitchFamily="34" charset="0"/>
                <a:ea typeface="Arial" pitchFamily="34" charset="-122"/>
                <a:cs typeface="Arial" pitchFamily="34" charset="-120"/>
              </a:rPr>
              <a:t>2. Acceso indexado: el propio buscador de contactos mantiene un índice alfabético por detrás.</a:t>
            </a:r>
            <a:endParaRPr lang="en-US" sz="1150"/>
          </a:p>
          <a:p>
            <a:pPr marL="0" indent="0">
              <a:lnSpc>
                <a:spcPct val="120000"/>
              </a:lnSpc>
              <a:spcAft>
                <a:spcPts val="600"/>
              </a:spcAft>
              <a:buNone/>
            </a:pPr>
            <a:r>
              <a:rPr lang="en-US" sz="1150">
                <a:solidFill>
                  <a:srgbClr val="444444"/>
                </a:solidFill>
                <a:latin typeface="Arial" pitchFamily="34" charset="0"/>
                <a:ea typeface="Arial" pitchFamily="34" charset="-122"/>
                <a:cs typeface="Arial" pitchFamily="34" charset="-120"/>
              </a:rPr>
              <a:t>3. Acceso directo: el número de socio permite calcular directamente dónde está su ficha.</a:t>
            </a:r>
            <a:endParaRPr lang="en-US" sz="1150"/>
          </a:p>
          <a:p>
            <a:pPr marL="0" indent="0">
              <a:lnSpc>
                <a:spcPct val="120000"/>
              </a:lnSpc>
              <a:spcAft>
                <a:spcPts val="600"/>
              </a:spcAft>
              <a:buNone/>
            </a:pPr>
            <a:r>
              <a:rPr lang="en-US" sz="1150">
                <a:solidFill>
                  <a:srgbClr val="444444"/>
                </a:solidFill>
                <a:latin typeface="Arial" pitchFamily="34" charset="0"/>
                <a:ea typeface="Arial" pitchFamily="34" charset="-122"/>
                <a:cs typeface="Arial" pitchFamily="34" charset="-120"/>
              </a:rPr>
              <a:t>4. Acceso secuencial: sin índice, no queda otra que mirar de una en una.</a:t>
            </a:r>
            <a:endParaRPr lang="en-US" sz="1150"/>
          </a:p>
        </p:txBody>
      </p:sp>
      <p:sp>
        <p:nvSpPr>
          <p:cNvPr id="20" name="Text 18"/>
          <p:cNvSpPr txBox="1"/>
          <p:nvPr/>
        </p:nvSpPr>
        <p:spPr>
          <a:xfrm>
            <a:off x="457200" y="6510528"/>
            <a:ext cx="7315200" cy="274320"/>
          </a:xfrm>
          <a:prstGeom prst="rect">
            <a:avLst/>
          </a:prstGeom>
          <a:noFill/>
          <a:ln/>
        </p:spPr>
        <p:txBody>
          <a:bodyPr wrap="square" lIns="0" tIns="0" rIns="0" bIns="0" rtlCol="0" anchor="ctr"/>
          <a:lstStyle/>
          <a:p>
            <a:pPr marL="0" indent="0">
              <a:buNone/>
            </a:pPr>
            <a:r>
              <a:rPr lang="en-US" sz="900">
                <a:solidFill>
                  <a:srgbClr val="6B6B6B"/>
                </a:solidFill>
                <a:latin typeface="Arial" pitchFamily="34" charset="0"/>
                <a:ea typeface="Arial" pitchFamily="34" charset="-122"/>
                <a:cs typeface="Arial" pitchFamily="34" charset="-120"/>
              </a:rPr>
              <a:t>Cap. 1 · Ejercicio: tipos de acceso</a:t>
            </a:r>
            <a:endParaRPr lang="en-US" sz="900"/>
          </a:p>
        </p:txBody>
      </p:sp>
      <p:sp>
        <p:nvSpPr>
          <p:cNvPr id="21" name="Text 19"/>
          <p:cNvSpPr txBox="1"/>
          <p:nvPr/>
        </p:nvSpPr>
        <p:spPr>
          <a:xfrm>
            <a:off x="8074152" y="6510528"/>
            <a:ext cx="3657600" cy="274320"/>
          </a:xfrm>
          <a:prstGeom prst="rect">
            <a:avLst/>
          </a:prstGeom>
          <a:noFill/>
          <a:ln/>
        </p:spPr>
        <p:txBody>
          <a:bodyPr wrap="square" lIns="0" tIns="0" rIns="0" bIns="0" rtlCol="0" anchor="ctr"/>
          <a:lstStyle/>
          <a:p>
            <a:pPr marL="0" indent="0" algn="r">
              <a:buNone/>
            </a:pPr>
            <a:r>
              <a:rPr lang="en-US" sz="900">
                <a:solidFill>
                  <a:srgbClr val="6B6B6B"/>
                </a:solidFill>
                <a:latin typeface="Arial" pitchFamily="34" charset="0"/>
                <a:ea typeface="Arial" pitchFamily="34" charset="-122"/>
                <a:cs typeface="Arial" pitchFamily="34" charset="-120"/>
              </a:rPr>
              <a:t>Bases de Datos · DAM/DAW</a:t>
            </a:r>
            <a:endParaRPr lang="en-US" sz="9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DDDDDD"/>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789920" cy="292608"/>
          </a:xfrm>
          <a:prstGeom prst="rect">
            <a:avLst/>
          </a:prstGeom>
          <a:noFill/>
          <a:ln/>
        </p:spPr>
        <p:txBody>
          <a:bodyPr wrap="square" lIns="0" tIns="0" rIns="0" bIns="0" rtlCol="0" anchor="ctr"/>
          <a:lstStyle/>
          <a:p>
            <a:pPr marL="0" indent="0">
              <a:buNone/>
            </a:pPr>
            <a:r>
              <a:rPr lang="en-US" sz="1150" b="1" kern="0" spc="50">
                <a:solidFill>
                  <a:srgbClr val="028090"/>
                </a:solidFill>
                <a:latin typeface="Arial" pitchFamily="34" charset="0"/>
                <a:ea typeface="Arial" pitchFamily="34" charset="-122"/>
                <a:cs typeface="Arial" pitchFamily="34" charset="-120"/>
              </a:rPr>
              <a:t>1.2 · LO BÁSICO QUE TIENES QUE TENER CLARO</a:t>
            </a:r>
            <a:endParaRPr lang="en-US" sz="1150"/>
          </a:p>
        </p:txBody>
      </p:sp>
      <p:sp>
        <p:nvSpPr>
          <p:cNvPr id="3" name="Text 1"/>
          <p:cNvSpPr txBox="1"/>
          <p:nvPr/>
        </p:nvSpPr>
        <p:spPr>
          <a:xfrm>
            <a:off x="548640" y="621792"/>
            <a:ext cx="10789920" cy="685800"/>
          </a:xfrm>
          <a:prstGeom prst="rect">
            <a:avLst/>
          </a:prstGeom>
          <a:noFill/>
          <a:ln/>
        </p:spPr>
        <p:txBody>
          <a:bodyPr wrap="square" lIns="0" tIns="0" rIns="0" bIns="0" rtlCol="0" anchor="ctr"/>
          <a:lstStyle/>
          <a:p>
            <a:pPr marL="0" indent="0">
              <a:buNone/>
            </a:pPr>
            <a:r>
              <a:rPr lang="en-US" sz="2400" b="1">
                <a:solidFill>
                  <a:srgbClr val="1A1A1A"/>
                </a:solidFill>
                <a:latin typeface="Arial" pitchFamily="34" charset="0"/>
                <a:ea typeface="Arial" pitchFamily="34" charset="-122"/>
                <a:cs typeface="Arial" pitchFamily="34" charset="-120"/>
              </a:rPr>
              <a:t>¿Qué es exactamente una base de datos?</a:t>
            </a:r>
            <a:endParaRPr lang="en-US" sz="2400"/>
          </a:p>
        </p:txBody>
      </p:sp>
      <p:sp>
        <p:nvSpPr>
          <p:cNvPr id="4" name="Text 2"/>
          <p:cNvSpPr txBox="1"/>
          <p:nvPr/>
        </p:nvSpPr>
        <p:spPr>
          <a:xfrm>
            <a:off x="548640" y="1417320"/>
            <a:ext cx="10789920" cy="4892040"/>
          </a:xfrm>
          <a:prstGeom prst="rect">
            <a:avLst/>
          </a:prstGeom>
          <a:noFill/>
          <a:ln/>
        </p:spPr>
        <p:txBody>
          <a:bodyPr wrap="square" lIns="0" tIns="0" rIns="0" bIns="0" rtlCol="0" anchor="t"/>
          <a:lstStyle/>
          <a:p>
            <a:pPr marL="342900" indent="-342900">
              <a:lnSpc>
                <a:spcPct val="125000"/>
              </a:lnSpc>
              <a:spcAft>
                <a:spcPts val="1000"/>
              </a:spcAft>
              <a:buSzPct val="100000"/>
              <a:buChar char="•"/>
            </a:pPr>
            <a:r>
              <a:rPr lang="en-US" sz="1350">
                <a:solidFill>
                  <a:srgbClr val="1A1A1A"/>
                </a:solidFill>
                <a:latin typeface="Arial" pitchFamily="34" charset="0"/>
                <a:ea typeface="Arial" pitchFamily="34" charset="-122"/>
                <a:cs typeface="Arial" pitchFamily="34" charset="-120"/>
              </a:rPr>
              <a:t>Es un conjunto de datos organizados y relacionados entre sí, sin copias innecesarias, a los que pueden acceder varias aplicaciones y varias personas a la vez.</a:t>
            </a:r>
            <a:endParaRPr lang="en-US" sz="1350"/>
          </a:p>
          <a:p>
            <a:pPr marL="342900" indent="-342900">
              <a:lnSpc>
                <a:spcPct val="125000"/>
              </a:lnSpc>
              <a:spcAft>
                <a:spcPts val="1000"/>
              </a:spcAft>
              <a:buSzPct val="100000"/>
              <a:buChar char="•"/>
            </a:pPr>
            <a:r>
              <a:rPr lang="en-US" sz="1350">
                <a:solidFill>
                  <a:srgbClr val="1A1A1A"/>
                </a:solidFill>
                <a:latin typeface="Arial" pitchFamily="34" charset="0"/>
                <a:ea typeface="Arial" pitchFamily="34" charset="-122"/>
                <a:cs typeface="Arial" pitchFamily="34" charset="-120"/>
              </a:rPr>
              <a:t>No es lo mismo que un SGBD: la base de datos son los datos en sí; el SGBD es el programa que los gestiona. Mucha gente confunde ambos términos, pero en el examen te lo vamos a preguntar por separado.</a:t>
            </a:r>
            <a:endParaRPr lang="en-US" sz="1350"/>
          </a:p>
          <a:p>
            <a:pPr marL="342900" indent="-342900">
              <a:lnSpc>
                <a:spcPct val="125000"/>
              </a:lnSpc>
              <a:spcAft>
                <a:spcPts val="1000"/>
              </a:spcAft>
              <a:buSzPct val="100000"/>
              <a:buChar char="•"/>
            </a:pPr>
            <a:r>
              <a:rPr lang="en-US" sz="1350">
                <a:solidFill>
                  <a:srgbClr val="1A1A1A"/>
                </a:solidFill>
                <a:latin typeface="Arial" pitchFamily="34" charset="0"/>
                <a:ea typeface="Arial" pitchFamily="34" charset="-122"/>
                <a:cs typeface="Arial" pitchFamily="34" charset="-120"/>
              </a:rPr>
              <a:t>El modelo relacional lo propuso E. F. Codd en 1970 y sigue siendo el más usado hoy en las empresas. Va a ser nuestro protagonista durante casi todo el módulo, aunque no es el único que existe (lo vemos en la siguiente diapositiva).</a:t>
            </a:r>
            <a:endParaRPr lang="en-US" sz="1350"/>
          </a:p>
          <a:p>
            <a:pPr marL="342900" indent="-342900">
              <a:lnSpc>
                <a:spcPct val="125000"/>
              </a:lnSpc>
              <a:spcAft>
                <a:spcPts val="1000"/>
              </a:spcAft>
              <a:buSzPct val="100000"/>
              <a:buChar char="•"/>
            </a:pPr>
            <a:r>
              <a:rPr lang="en-US" sz="1350">
                <a:solidFill>
                  <a:srgbClr val="1A1A1A"/>
                </a:solidFill>
                <a:latin typeface="Arial" pitchFamily="34" charset="0"/>
                <a:ea typeface="Arial" pitchFamily="34" charset="-122"/>
                <a:cs typeface="Arial" pitchFamily="34" charset="-120"/>
              </a:rPr>
              <a:t>Da igual el modelo: toda base de datos busca lo mismo — evitar datos repetidos, mantenerlos coherentes y dejar que varios usuarios trabajen con ellos sin pisarse.</a:t>
            </a:r>
            <a:endParaRPr lang="en-US" sz="1350"/>
          </a:p>
        </p:txBody>
      </p:sp>
      <p:sp>
        <p:nvSpPr>
          <p:cNvPr id="5" name="Text 3"/>
          <p:cNvSpPr txBox="1"/>
          <p:nvPr/>
        </p:nvSpPr>
        <p:spPr>
          <a:xfrm>
            <a:off x="457200" y="6510528"/>
            <a:ext cx="7315200" cy="274320"/>
          </a:xfrm>
          <a:prstGeom prst="rect">
            <a:avLst/>
          </a:prstGeom>
          <a:noFill/>
          <a:ln/>
        </p:spPr>
        <p:txBody>
          <a:bodyPr wrap="square" lIns="0" tIns="0" rIns="0" bIns="0" rtlCol="0" anchor="ctr"/>
          <a:lstStyle/>
          <a:p>
            <a:pPr marL="0" indent="0">
              <a:buNone/>
            </a:pPr>
            <a:r>
              <a:rPr lang="en-US" sz="900">
                <a:solidFill>
                  <a:srgbClr val="6B6B6B"/>
                </a:solidFill>
                <a:latin typeface="Arial" pitchFamily="34" charset="0"/>
                <a:ea typeface="Arial" pitchFamily="34" charset="-122"/>
                <a:cs typeface="Arial" pitchFamily="34" charset="-120"/>
              </a:rPr>
              <a:t>Cap. 1 · Conceptos</a:t>
            </a:r>
            <a:endParaRPr lang="en-US" sz="900"/>
          </a:p>
        </p:txBody>
      </p:sp>
      <p:sp>
        <p:nvSpPr>
          <p:cNvPr id="6" name="Text 4"/>
          <p:cNvSpPr txBox="1"/>
          <p:nvPr/>
        </p:nvSpPr>
        <p:spPr>
          <a:xfrm>
            <a:off x="8074152" y="6510528"/>
            <a:ext cx="3657600" cy="274320"/>
          </a:xfrm>
          <a:prstGeom prst="rect">
            <a:avLst/>
          </a:prstGeom>
          <a:noFill/>
          <a:ln/>
        </p:spPr>
        <p:txBody>
          <a:bodyPr wrap="square" lIns="0" tIns="0" rIns="0" bIns="0" rtlCol="0" anchor="ctr"/>
          <a:lstStyle/>
          <a:p>
            <a:pPr marL="0" indent="0" algn="r">
              <a:buNone/>
            </a:pPr>
            <a:r>
              <a:rPr lang="en-US" sz="900">
                <a:solidFill>
                  <a:srgbClr val="6B6B6B"/>
                </a:solidFill>
                <a:latin typeface="Arial" pitchFamily="34" charset="0"/>
                <a:ea typeface="Arial" pitchFamily="34" charset="-122"/>
                <a:cs typeface="Arial" pitchFamily="34" charset="-120"/>
              </a:rPr>
              <a:t>Bases de Datos · DAM/DAW</a:t>
            </a:r>
            <a:endParaRPr lang="en-US" sz="9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DDDDDD"/>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789920" cy="292608"/>
          </a:xfrm>
          <a:prstGeom prst="rect">
            <a:avLst/>
          </a:prstGeom>
          <a:noFill/>
          <a:ln/>
        </p:spPr>
        <p:txBody>
          <a:bodyPr wrap="square" lIns="0" tIns="0" rIns="0" bIns="0" rtlCol="0" anchor="ctr"/>
          <a:lstStyle/>
          <a:p>
            <a:pPr marL="0" indent="0">
              <a:buNone/>
            </a:pPr>
            <a:r>
              <a:rPr lang="en-US" sz="1150" b="1" kern="0" spc="50">
                <a:solidFill>
                  <a:srgbClr val="028090"/>
                </a:solidFill>
                <a:latin typeface="Arial" pitchFamily="34" charset="0"/>
                <a:ea typeface="Arial" pitchFamily="34" charset="-122"/>
                <a:cs typeface="Arial" pitchFamily="34" charset="-120"/>
              </a:rPr>
              <a:t>1.2 · NO TODAS ORGANIZAN LOS DATOS IGUAL</a:t>
            </a:r>
            <a:endParaRPr lang="en-US" sz="1150"/>
          </a:p>
        </p:txBody>
      </p:sp>
      <p:sp>
        <p:nvSpPr>
          <p:cNvPr id="3" name="Text 1"/>
          <p:cNvSpPr txBox="1"/>
          <p:nvPr/>
        </p:nvSpPr>
        <p:spPr>
          <a:xfrm>
            <a:off x="548640" y="621792"/>
            <a:ext cx="10789920" cy="685800"/>
          </a:xfrm>
          <a:prstGeom prst="rect">
            <a:avLst/>
          </a:prstGeom>
          <a:noFill/>
          <a:ln/>
        </p:spPr>
        <p:txBody>
          <a:bodyPr wrap="square" lIns="0" tIns="0" rIns="0" bIns="0" rtlCol="0" anchor="ctr"/>
          <a:lstStyle/>
          <a:p>
            <a:pPr marL="0" indent="0">
              <a:buNone/>
            </a:pPr>
            <a:r>
              <a:rPr lang="en-US" sz="2400" b="1">
                <a:solidFill>
                  <a:srgbClr val="1A1A1A"/>
                </a:solidFill>
                <a:latin typeface="Arial" pitchFamily="34" charset="0"/>
                <a:ea typeface="Arial" pitchFamily="34" charset="-122"/>
                <a:cs typeface="Arial" pitchFamily="34" charset="-120"/>
              </a:rPr>
              <a:t>Tipos de bases de datos según el modelo de datos</a:t>
            </a:r>
            <a:endParaRPr lang="en-US" sz="2400"/>
          </a:p>
        </p:txBody>
      </p:sp>
      <p:sp>
        <p:nvSpPr>
          <p:cNvPr id="4" name="Text 2"/>
          <p:cNvSpPr txBox="1"/>
          <p:nvPr/>
        </p:nvSpPr>
        <p:spPr>
          <a:xfrm>
            <a:off x="548640" y="1417320"/>
            <a:ext cx="10789920" cy="411480"/>
          </a:xfrm>
          <a:prstGeom prst="rect">
            <a:avLst/>
          </a:prstGeom>
          <a:noFill/>
          <a:ln/>
        </p:spPr>
        <p:txBody>
          <a:bodyPr wrap="square" lIns="0" tIns="0" rIns="0" bIns="0" rtlCol="0" anchor="ctr"/>
          <a:lstStyle/>
          <a:p>
            <a:pPr marL="0" indent="0">
              <a:lnSpc>
                <a:spcPct val="120000"/>
              </a:lnSpc>
              <a:buNone/>
            </a:pPr>
            <a:r>
              <a:rPr lang="en-US" sz="1250">
                <a:solidFill>
                  <a:srgbClr val="444444"/>
                </a:solidFill>
                <a:latin typeface="Arial" pitchFamily="34" charset="0"/>
                <a:ea typeface="Arial" pitchFamily="34" charset="-122"/>
                <a:cs typeface="Arial" pitchFamily="34" charset="-120"/>
              </a:rPr>
              <a:t>Antes de que el modelo relacional se hiciera dominante, existían (y siguen existiendo) otras formas de organizar la información.</a:t>
            </a:r>
            <a:endParaRPr lang="en-US" sz="125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10789920" cy="2743200"/>
        </p:xfrm>
        <a:graphic>
          <a:graphicData uri="http://schemas.openxmlformats.org/drawingml/2006/table">
            <a:tbl>
              <a:tblPr/>
              <a:tblGrid>
                <a:gridCol w="2926080">
                  <a:extLst>
                    <a:ext uri="{9D8B030D-6E8A-4147-A177-3AD203B41FA5}">
                      <a16:colId xmlns:a16="http://schemas.microsoft.com/office/drawing/2014/main" val="20000"/>
                    </a:ext>
                  </a:extLst>
                </a:gridCol>
                <a:gridCol w="7863840">
                  <a:extLst>
                    <a:ext uri="{9D8B030D-6E8A-4147-A177-3AD203B41FA5}">
                      <a16:colId xmlns:a16="http://schemas.microsoft.com/office/drawing/2014/main" val="20001"/>
                    </a:ext>
                  </a:extLst>
                </a:gridCol>
              </a:tblGrid>
              <a:tr h="457200">
                <a:tc>
                  <a:txBody>
                    <a:bodyPr/>
                    <a:lstStyle/>
                    <a:p>
                      <a:pPr marL="0" indent="0" algn="l">
                        <a:buNone/>
                      </a:pPr>
                      <a:r>
                        <a:rPr lang="en-US" sz="1200" b="1">
                          <a:solidFill>
                            <a:srgbClr val="FFFFFF"/>
                          </a:solidFill>
                          <a:latin typeface="Arial" pitchFamily="34" charset="0"/>
                          <a:ea typeface="Arial" pitchFamily="34" charset="-122"/>
                          <a:cs typeface="Arial" pitchFamily="34" charset="-120"/>
                        </a:rPr>
                        <a:t>Modelo</a:t>
                      </a:r>
                      <a:endParaRPr lang="en-US" sz="1200">
                        <a:latin typeface="Arial" charset="0"/>
                        <a:ea typeface="Arial" charset="0"/>
                        <a:cs typeface="Arial"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028090"/>
                    </a:solidFill>
                  </a:tcPr>
                </a:tc>
                <a:tc>
                  <a:txBody>
                    <a:bodyPr/>
                    <a:lstStyle/>
                    <a:p>
                      <a:pPr marL="0" indent="0" algn="l">
                        <a:buNone/>
                      </a:pPr>
                      <a:r>
                        <a:rPr lang="en-US" sz="1200" b="1">
                          <a:solidFill>
                            <a:srgbClr val="FFFFFF"/>
                          </a:solidFill>
                          <a:latin typeface="Arial" pitchFamily="34" charset="0"/>
                          <a:ea typeface="Arial" pitchFamily="34" charset="-122"/>
                          <a:cs typeface="Arial" pitchFamily="34" charset="-120"/>
                        </a:rPr>
                        <a:t>Cómo organiza los datos</a:t>
                      </a:r>
                      <a:endParaRPr lang="en-US" sz="1200">
                        <a:latin typeface="Arial" charset="0"/>
                        <a:ea typeface="Arial" charset="0"/>
                        <a:cs typeface="Arial"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028090"/>
                    </a:solidFill>
                  </a:tcPr>
                </a:tc>
                <a:extLst>
                  <a:ext uri="{0D108BD9-81ED-4DB2-BD59-A6C34878D82A}">
                    <a16:rowId xmlns:a16="http://schemas.microsoft.com/office/drawing/2014/main" val="10000"/>
                  </a:ext>
                </a:extLst>
              </a:tr>
              <a:tr h="457200">
                <a:tc>
                  <a:txBody>
                    <a:bodyPr/>
                    <a:lstStyle/>
                    <a:p>
                      <a:pPr marL="0" indent="0" algn="l">
                        <a:buNone/>
                      </a:pPr>
                      <a:r>
                        <a:rPr lang="en-US" sz="1150">
                          <a:solidFill>
                            <a:srgbClr val="1A1A1A"/>
                          </a:solidFill>
                          <a:latin typeface="Arial" pitchFamily="34" charset="0"/>
                          <a:ea typeface="Arial" pitchFamily="34" charset="-122"/>
                          <a:cs typeface="Arial" pitchFamily="34" charset="-120"/>
                        </a:rPr>
                        <a:t>Jerárquica</a:t>
                      </a:r>
                      <a:endParaRPr lang="en-US" sz="1150">
                        <a:latin typeface="Arial" charset="0"/>
                        <a:ea typeface="Arial" charset="0"/>
                        <a:cs typeface="Arial"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E2EAEA"/>
                    </a:solidFill>
                  </a:tcPr>
                </a:tc>
                <a:tc>
                  <a:txBody>
                    <a:bodyPr/>
                    <a:lstStyle/>
                    <a:p>
                      <a:pPr marL="0" indent="0" algn="l">
                        <a:buNone/>
                      </a:pPr>
                      <a:r>
                        <a:rPr lang="en-US" sz="1150">
                          <a:solidFill>
                            <a:srgbClr val="1A1A1A"/>
                          </a:solidFill>
                          <a:latin typeface="Arial" pitchFamily="34" charset="0"/>
                          <a:ea typeface="Arial" pitchFamily="34" charset="-122"/>
                          <a:cs typeface="Arial" pitchFamily="34" charset="-120"/>
                        </a:rPr>
                        <a:t>En forma de árbol: cada dato tiene un único "padre" del que depende (por ejemplo, carpetas y subcarpetas)</a:t>
                      </a:r>
                      <a:endParaRPr lang="en-US" sz="1150">
                        <a:latin typeface="Arial" charset="0"/>
                        <a:ea typeface="Arial" charset="0"/>
                        <a:cs typeface="Arial"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E2EAEA"/>
                    </a:solidFill>
                  </a:tcPr>
                </a:tc>
                <a:extLst>
                  <a:ext uri="{0D108BD9-81ED-4DB2-BD59-A6C34878D82A}">
                    <a16:rowId xmlns:a16="http://schemas.microsoft.com/office/drawing/2014/main" val="10001"/>
                  </a:ext>
                </a:extLst>
              </a:tr>
              <a:tr h="457200">
                <a:tc>
                  <a:txBody>
                    <a:bodyPr/>
                    <a:lstStyle/>
                    <a:p>
                      <a:pPr marL="0" indent="0" algn="l">
                        <a:buNone/>
                      </a:pPr>
                      <a:r>
                        <a:rPr lang="en-US" sz="1150">
                          <a:solidFill>
                            <a:srgbClr val="1A1A1A"/>
                          </a:solidFill>
                          <a:latin typeface="Arial" pitchFamily="34" charset="0"/>
                          <a:ea typeface="Arial" pitchFamily="34" charset="-122"/>
                          <a:cs typeface="Arial" pitchFamily="34" charset="-120"/>
                        </a:rPr>
                        <a:t>En red</a:t>
                      </a:r>
                      <a:endParaRPr lang="en-US" sz="1150">
                        <a:latin typeface="Arial" charset="0"/>
                        <a:ea typeface="Arial" charset="0"/>
                        <a:cs typeface="Arial"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l">
                        <a:buNone/>
                      </a:pPr>
                      <a:r>
                        <a:rPr lang="en-US" sz="1150">
                          <a:solidFill>
                            <a:srgbClr val="1A1A1A"/>
                          </a:solidFill>
                          <a:latin typeface="Arial" pitchFamily="34" charset="0"/>
                          <a:ea typeface="Arial" pitchFamily="34" charset="-122"/>
                          <a:cs typeface="Arial" pitchFamily="34" charset="-120"/>
                        </a:rPr>
                        <a:t>Como la jerárquica, pero un dato puede tener varios "padres" a la vez, formando una red</a:t>
                      </a:r>
                      <a:endParaRPr lang="en-US" sz="1150">
                        <a:latin typeface="Arial" charset="0"/>
                        <a:ea typeface="Arial" charset="0"/>
                        <a:cs typeface="Arial"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2"/>
                  </a:ext>
                </a:extLst>
              </a:tr>
              <a:tr h="457200">
                <a:tc>
                  <a:txBody>
                    <a:bodyPr/>
                    <a:lstStyle/>
                    <a:p>
                      <a:pPr marL="0" indent="0" algn="l">
                        <a:buNone/>
                      </a:pPr>
                      <a:r>
                        <a:rPr lang="en-US" sz="1150">
                          <a:solidFill>
                            <a:srgbClr val="1A1A1A"/>
                          </a:solidFill>
                          <a:latin typeface="Arial" pitchFamily="34" charset="0"/>
                          <a:ea typeface="Arial" pitchFamily="34" charset="-122"/>
                          <a:cs typeface="Arial" pitchFamily="34" charset="-120"/>
                        </a:rPr>
                        <a:t>Relacional</a:t>
                      </a:r>
                      <a:endParaRPr lang="en-US" sz="1150">
                        <a:latin typeface="Arial" charset="0"/>
                        <a:ea typeface="Arial" charset="0"/>
                        <a:cs typeface="Arial"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E2EAEA"/>
                    </a:solidFill>
                  </a:tcPr>
                </a:tc>
                <a:tc>
                  <a:txBody>
                    <a:bodyPr/>
                    <a:lstStyle/>
                    <a:p>
                      <a:pPr marL="0" indent="0" algn="l">
                        <a:buNone/>
                      </a:pPr>
                      <a:r>
                        <a:rPr lang="en-US" sz="1150">
                          <a:solidFill>
                            <a:srgbClr val="1A1A1A"/>
                          </a:solidFill>
                          <a:latin typeface="Arial" pitchFamily="34" charset="0"/>
                          <a:ea typeface="Arial" pitchFamily="34" charset="-122"/>
                          <a:cs typeface="Arial" pitchFamily="34" charset="-120"/>
                        </a:rPr>
                        <a:t>Tablas con filas y columnas relacionadas mediante claves — la que usaremos casi todo el módulo</a:t>
                      </a:r>
                      <a:endParaRPr lang="en-US" sz="1150">
                        <a:latin typeface="Arial" charset="0"/>
                        <a:ea typeface="Arial" charset="0"/>
                        <a:cs typeface="Arial"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E2EAEA"/>
                    </a:solidFill>
                  </a:tcPr>
                </a:tc>
                <a:extLst>
                  <a:ext uri="{0D108BD9-81ED-4DB2-BD59-A6C34878D82A}">
                    <a16:rowId xmlns:a16="http://schemas.microsoft.com/office/drawing/2014/main" val="10003"/>
                  </a:ext>
                </a:extLst>
              </a:tr>
              <a:tr h="457200">
                <a:tc>
                  <a:txBody>
                    <a:bodyPr/>
                    <a:lstStyle/>
                    <a:p>
                      <a:pPr marL="0" indent="0" algn="l">
                        <a:buNone/>
                      </a:pPr>
                      <a:r>
                        <a:rPr lang="en-US" sz="1150">
                          <a:solidFill>
                            <a:srgbClr val="1A1A1A"/>
                          </a:solidFill>
                          <a:latin typeface="Arial" pitchFamily="34" charset="0"/>
                          <a:ea typeface="Arial" pitchFamily="34" charset="-122"/>
                          <a:cs typeface="Arial" pitchFamily="34" charset="-120"/>
                        </a:rPr>
                        <a:t>Orientada a objetos</a:t>
                      </a:r>
                      <a:endParaRPr lang="en-US" sz="1150">
                        <a:latin typeface="Arial" charset="0"/>
                        <a:ea typeface="Arial" charset="0"/>
                        <a:cs typeface="Arial"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l">
                        <a:buNone/>
                      </a:pPr>
                      <a:r>
                        <a:rPr lang="en-US" sz="1150">
                          <a:solidFill>
                            <a:srgbClr val="1A1A1A"/>
                          </a:solidFill>
                          <a:latin typeface="Arial" pitchFamily="34" charset="0"/>
                          <a:ea typeface="Arial" pitchFamily="34" charset="-122"/>
                          <a:cs typeface="Arial" pitchFamily="34" charset="-120"/>
                        </a:rPr>
                        <a:t>Guarda directamente objetos con sus atributos y comportamientos, como en programación orientada a objetos</a:t>
                      </a:r>
                      <a:endParaRPr lang="en-US" sz="1150">
                        <a:latin typeface="Arial" charset="0"/>
                        <a:ea typeface="Arial" charset="0"/>
                        <a:cs typeface="Arial"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4"/>
                  </a:ext>
                </a:extLst>
              </a:tr>
              <a:tr h="457200">
                <a:tc>
                  <a:txBody>
                    <a:bodyPr/>
                    <a:lstStyle/>
                    <a:p>
                      <a:pPr marL="0" indent="0" algn="l">
                        <a:buNone/>
                      </a:pPr>
                      <a:r>
                        <a:rPr lang="en-US" sz="1150">
                          <a:solidFill>
                            <a:srgbClr val="1A1A1A"/>
                          </a:solidFill>
                          <a:latin typeface="Arial" pitchFamily="34" charset="0"/>
                          <a:ea typeface="Arial" pitchFamily="34" charset="-122"/>
                          <a:cs typeface="Arial" pitchFamily="34" charset="-120"/>
                        </a:rPr>
                        <a:t>No relacional (NoSQL)</a:t>
                      </a:r>
                      <a:endParaRPr lang="en-US" sz="1150">
                        <a:latin typeface="Arial" charset="0"/>
                        <a:ea typeface="Arial" charset="0"/>
                        <a:cs typeface="Arial"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E2EAEA"/>
                    </a:solidFill>
                  </a:tcPr>
                </a:tc>
                <a:tc>
                  <a:txBody>
                    <a:bodyPr/>
                    <a:lstStyle/>
                    <a:p>
                      <a:pPr marL="0" indent="0" algn="l">
                        <a:buNone/>
                      </a:pPr>
                      <a:r>
                        <a:rPr lang="en-US" sz="1150">
                          <a:solidFill>
                            <a:srgbClr val="1A1A1A"/>
                          </a:solidFill>
                          <a:latin typeface="Arial" pitchFamily="34" charset="0"/>
                          <a:ea typeface="Arial" pitchFamily="34" charset="-122"/>
                          <a:cs typeface="Arial" pitchFamily="34" charset="-120"/>
                        </a:rPr>
                        <a:t>Sin tablas fijas: documentos, pares clave-valor, columnas o grafos (lo vemos a fondo en el capítulo 7)</a:t>
                      </a:r>
                      <a:endParaRPr lang="en-US" sz="1150">
                        <a:latin typeface="Arial" charset="0"/>
                        <a:ea typeface="Arial" charset="0"/>
                        <a:cs typeface="Arial"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E2EAEA"/>
                    </a:solidFill>
                  </a:tcPr>
                </a:tc>
                <a:extLst>
                  <a:ext uri="{0D108BD9-81ED-4DB2-BD59-A6C34878D82A}">
                    <a16:rowId xmlns:a16="http://schemas.microsoft.com/office/drawing/2014/main" val="10005"/>
                  </a:ext>
                </a:extLst>
              </a:tr>
            </a:tbl>
          </a:graphicData>
        </a:graphic>
      </p:graphicFrame>
      <p:sp>
        <p:nvSpPr>
          <p:cNvPr id="6" name="Text 3"/>
          <p:cNvSpPr txBox="1"/>
          <p:nvPr/>
        </p:nvSpPr>
        <p:spPr>
          <a:xfrm>
            <a:off x="457200" y="6510528"/>
            <a:ext cx="7315200" cy="274320"/>
          </a:xfrm>
          <a:prstGeom prst="rect">
            <a:avLst/>
          </a:prstGeom>
          <a:noFill/>
          <a:ln/>
        </p:spPr>
        <p:txBody>
          <a:bodyPr wrap="square" lIns="0" tIns="0" rIns="0" bIns="0" rtlCol="0" anchor="ctr"/>
          <a:lstStyle/>
          <a:p>
            <a:pPr marL="0" indent="0">
              <a:buNone/>
            </a:pPr>
            <a:r>
              <a:rPr lang="en-US" sz="900">
                <a:solidFill>
                  <a:srgbClr val="6B6B6B"/>
                </a:solidFill>
                <a:latin typeface="Arial" pitchFamily="34" charset="0"/>
                <a:ea typeface="Arial" pitchFamily="34" charset="-122"/>
                <a:cs typeface="Arial" pitchFamily="34" charset="-120"/>
              </a:rPr>
              <a:t>Cap. 1 · Modelos de datos</a:t>
            </a:r>
            <a:endParaRPr lang="en-US" sz="900"/>
          </a:p>
        </p:txBody>
      </p:sp>
      <p:sp>
        <p:nvSpPr>
          <p:cNvPr id="5" name="Text 4"/>
          <p:cNvSpPr txBox="1"/>
          <p:nvPr/>
        </p:nvSpPr>
        <p:spPr>
          <a:xfrm>
            <a:off x="8074152" y="6510528"/>
            <a:ext cx="3657600" cy="274320"/>
          </a:xfrm>
          <a:prstGeom prst="rect">
            <a:avLst/>
          </a:prstGeom>
          <a:noFill/>
          <a:ln/>
        </p:spPr>
        <p:txBody>
          <a:bodyPr wrap="square" lIns="0" tIns="0" rIns="0" bIns="0" rtlCol="0" anchor="ctr"/>
          <a:lstStyle/>
          <a:p>
            <a:pPr marL="0" indent="0" algn="r">
              <a:buNone/>
            </a:pPr>
            <a:r>
              <a:rPr lang="en-US" sz="900">
                <a:solidFill>
                  <a:srgbClr val="6B6B6B"/>
                </a:solidFill>
                <a:latin typeface="Arial" pitchFamily="34" charset="0"/>
                <a:ea typeface="Arial" pitchFamily="34" charset="-122"/>
                <a:cs typeface="Arial" pitchFamily="34" charset="-120"/>
              </a:rPr>
              <a:t>Bases de Datos · DAM/DAW</a:t>
            </a:r>
            <a:endParaRPr lang="en-US" sz="9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DDDDDD"/>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789920" cy="292608"/>
          </a:xfrm>
          <a:prstGeom prst="rect">
            <a:avLst/>
          </a:prstGeom>
          <a:noFill/>
          <a:ln/>
        </p:spPr>
        <p:txBody>
          <a:bodyPr wrap="square" lIns="0" tIns="0" rIns="0" bIns="0" rtlCol="0" anchor="ctr"/>
          <a:lstStyle/>
          <a:p>
            <a:pPr marL="0" indent="0">
              <a:buNone/>
            </a:pPr>
            <a:r>
              <a:rPr lang="en-US" sz="1150" b="1" kern="0" spc="50">
                <a:solidFill>
                  <a:srgbClr val="028090"/>
                </a:solidFill>
                <a:latin typeface="Arial" pitchFamily="34" charset="0"/>
                <a:ea typeface="Arial" pitchFamily="34" charset="-122"/>
                <a:cs typeface="Arial" pitchFamily="34" charset="-120"/>
              </a:rPr>
              <a:t>EJERCICIO 1.2</a:t>
            </a:r>
            <a:endParaRPr lang="en-US" sz="1150"/>
          </a:p>
        </p:txBody>
      </p:sp>
      <p:sp>
        <p:nvSpPr>
          <p:cNvPr id="3" name="Text 1"/>
          <p:cNvSpPr txBox="1"/>
          <p:nvPr/>
        </p:nvSpPr>
        <p:spPr>
          <a:xfrm>
            <a:off x="548640" y="621792"/>
            <a:ext cx="10789920" cy="685800"/>
          </a:xfrm>
          <a:prstGeom prst="rect">
            <a:avLst/>
          </a:prstGeom>
          <a:noFill/>
          <a:ln/>
        </p:spPr>
        <p:txBody>
          <a:bodyPr wrap="square" lIns="0" tIns="0" rIns="0" bIns="0" rtlCol="0" anchor="ctr"/>
          <a:lstStyle/>
          <a:p>
            <a:pPr marL="0" indent="0">
              <a:buNone/>
            </a:pPr>
            <a:r>
              <a:rPr lang="en-US" sz="2400" b="1">
                <a:solidFill>
                  <a:srgbClr val="1A1A1A"/>
                </a:solidFill>
                <a:latin typeface="Arial" pitchFamily="34" charset="0"/>
                <a:ea typeface="Arial" pitchFamily="34" charset="-122"/>
                <a:cs typeface="Arial" pitchFamily="34" charset="-120"/>
              </a:rPr>
              <a:t>¿Qué modelo de datos usarías?</a:t>
            </a:r>
            <a:endParaRPr lang="en-US" sz="2400"/>
          </a:p>
        </p:txBody>
      </p:sp>
      <p:sp>
        <p:nvSpPr>
          <p:cNvPr id="4" name="Text 2"/>
          <p:cNvSpPr txBox="1"/>
          <p:nvPr/>
        </p:nvSpPr>
        <p:spPr>
          <a:xfrm>
            <a:off x="548640" y="1371600"/>
            <a:ext cx="10789920" cy="365760"/>
          </a:xfrm>
          <a:prstGeom prst="rect">
            <a:avLst/>
          </a:prstGeom>
          <a:noFill/>
          <a:ln/>
        </p:spPr>
        <p:txBody>
          <a:bodyPr wrap="square" lIns="0" tIns="0" rIns="0" bIns="0" rtlCol="0" anchor="ctr"/>
          <a:lstStyle/>
          <a:p>
            <a:pPr marL="0" indent="0">
              <a:buNone/>
            </a:pPr>
            <a:r>
              <a:rPr lang="en-US" sz="1200" i="1">
                <a:solidFill>
                  <a:srgbClr val="444444"/>
                </a:solidFill>
                <a:latin typeface="Arial" pitchFamily="34" charset="0"/>
                <a:ea typeface="Arial" pitchFamily="34" charset="-122"/>
                <a:cs typeface="Arial" pitchFamily="34" charset="-120"/>
              </a:rPr>
              <a:t>Piensa qué modelo de base de datos se ajusta mejor a cada situación y por qué.</a:t>
            </a:r>
            <a:endParaRPr lang="en-US" sz="1200"/>
          </a:p>
        </p:txBody>
      </p:sp>
      <p:sp>
        <p:nvSpPr>
          <p:cNvPr id="5" name="Shape 3"/>
          <p:cNvSpPr/>
          <p:nvPr/>
        </p:nvSpPr>
        <p:spPr>
          <a:xfrm>
            <a:off x="548640" y="1828800"/>
            <a:ext cx="329184" cy="329184"/>
          </a:xfrm>
          <a:prstGeom prst="ellipse">
            <a:avLst/>
          </a:prstGeom>
          <a:solidFill>
            <a:srgbClr val="00A896"/>
          </a:solidFill>
          <a:ln/>
        </p:spPr>
      </p:sp>
      <p:sp>
        <p:nvSpPr>
          <p:cNvPr id="6" name="Text 4"/>
          <p:cNvSpPr txBox="1"/>
          <p:nvPr/>
        </p:nvSpPr>
        <p:spPr>
          <a:xfrm>
            <a:off x="548640" y="1828800"/>
            <a:ext cx="329184" cy="329184"/>
          </a:xfrm>
          <a:prstGeom prst="rect">
            <a:avLst/>
          </a:prstGeom>
          <a:noFill/>
          <a:ln/>
        </p:spPr>
        <p:txBody>
          <a:bodyPr wrap="square" lIns="0" tIns="0" rIns="0" bIns="0" rtlCol="0" anchor="ctr"/>
          <a:lstStyle/>
          <a:p>
            <a:pPr marL="0" indent="0" algn="ctr">
              <a:buNone/>
            </a:pPr>
            <a:r>
              <a:rPr lang="en-US" sz="936" b="1">
                <a:solidFill>
                  <a:srgbClr val="FFFFFF"/>
                </a:solidFill>
                <a:latin typeface="Arial" pitchFamily="34" charset="0"/>
                <a:ea typeface="Arial" pitchFamily="34" charset="-122"/>
                <a:cs typeface="Arial" pitchFamily="34" charset="-120"/>
              </a:rPr>
              <a:t>1</a:t>
            </a:r>
            <a:endParaRPr lang="en-US" sz="936"/>
          </a:p>
        </p:txBody>
      </p:sp>
      <p:sp>
        <p:nvSpPr>
          <p:cNvPr id="7" name="Text 5"/>
          <p:cNvSpPr txBox="1"/>
          <p:nvPr/>
        </p:nvSpPr>
        <p:spPr>
          <a:xfrm>
            <a:off x="1051560" y="1792224"/>
            <a:ext cx="10287000" cy="502920"/>
          </a:xfrm>
          <a:prstGeom prst="rect">
            <a:avLst/>
          </a:prstGeom>
          <a:noFill/>
          <a:ln/>
        </p:spPr>
        <p:txBody>
          <a:bodyPr wrap="square" lIns="0" tIns="0" rIns="0" bIns="0" rtlCol="0" anchor="t"/>
          <a:lstStyle/>
          <a:p>
            <a:pPr marL="0" indent="0">
              <a:lnSpc>
                <a:spcPct val="115000"/>
              </a:lnSpc>
              <a:buNone/>
            </a:pPr>
            <a:r>
              <a:rPr lang="en-US" sz="1250">
                <a:solidFill>
                  <a:srgbClr val="1A1A1A"/>
                </a:solidFill>
                <a:latin typeface="Arial" pitchFamily="34" charset="0"/>
                <a:ea typeface="Arial" pitchFamily="34" charset="-122"/>
                <a:cs typeface="Arial" pitchFamily="34" charset="-120"/>
              </a:rPr>
              <a:t>Una tienda online con productos, categorías, clientes y pedidos, todo relacionado entre sí con claves.</a:t>
            </a:r>
            <a:endParaRPr lang="en-US" sz="1250"/>
          </a:p>
        </p:txBody>
      </p:sp>
      <p:sp>
        <p:nvSpPr>
          <p:cNvPr id="8" name="Shape 6"/>
          <p:cNvSpPr/>
          <p:nvPr/>
        </p:nvSpPr>
        <p:spPr>
          <a:xfrm>
            <a:off x="548640" y="2340864"/>
            <a:ext cx="329184" cy="329184"/>
          </a:xfrm>
          <a:prstGeom prst="ellipse">
            <a:avLst/>
          </a:prstGeom>
          <a:solidFill>
            <a:srgbClr val="00A896"/>
          </a:solidFill>
          <a:ln/>
        </p:spPr>
      </p:sp>
      <p:sp>
        <p:nvSpPr>
          <p:cNvPr id="9" name="Text 7"/>
          <p:cNvSpPr txBox="1"/>
          <p:nvPr/>
        </p:nvSpPr>
        <p:spPr>
          <a:xfrm>
            <a:off x="548640" y="2340864"/>
            <a:ext cx="329184" cy="329184"/>
          </a:xfrm>
          <a:prstGeom prst="rect">
            <a:avLst/>
          </a:prstGeom>
          <a:noFill/>
          <a:ln/>
        </p:spPr>
        <p:txBody>
          <a:bodyPr wrap="square" lIns="0" tIns="0" rIns="0" bIns="0" rtlCol="0" anchor="ctr"/>
          <a:lstStyle/>
          <a:p>
            <a:pPr marL="0" indent="0" algn="ctr">
              <a:buNone/>
            </a:pPr>
            <a:r>
              <a:rPr lang="en-US" sz="936" b="1">
                <a:solidFill>
                  <a:srgbClr val="FFFFFF"/>
                </a:solidFill>
                <a:latin typeface="Arial" pitchFamily="34" charset="0"/>
                <a:ea typeface="Arial" pitchFamily="34" charset="-122"/>
                <a:cs typeface="Arial" pitchFamily="34" charset="-120"/>
              </a:rPr>
              <a:t>2</a:t>
            </a:r>
            <a:endParaRPr lang="en-US" sz="936"/>
          </a:p>
        </p:txBody>
      </p:sp>
      <p:sp>
        <p:nvSpPr>
          <p:cNvPr id="10" name="Text 8"/>
          <p:cNvSpPr txBox="1"/>
          <p:nvPr/>
        </p:nvSpPr>
        <p:spPr>
          <a:xfrm>
            <a:off x="1051560" y="2304288"/>
            <a:ext cx="10287000" cy="502920"/>
          </a:xfrm>
          <a:prstGeom prst="rect">
            <a:avLst/>
          </a:prstGeom>
          <a:noFill/>
          <a:ln/>
        </p:spPr>
        <p:txBody>
          <a:bodyPr wrap="square" lIns="0" tIns="0" rIns="0" bIns="0" rtlCol="0" anchor="t"/>
          <a:lstStyle/>
          <a:p>
            <a:pPr marL="0" indent="0">
              <a:lnSpc>
                <a:spcPct val="115000"/>
              </a:lnSpc>
              <a:buNone/>
            </a:pPr>
            <a:r>
              <a:rPr lang="en-US" sz="1250">
                <a:solidFill>
                  <a:srgbClr val="1A1A1A"/>
                </a:solidFill>
                <a:latin typeface="Arial" pitchFamily="34" charset="0"/>
                <a:ea typeface="Arial" pitchFamily="34" charset="-122"/>
                <a:cs typeface="Arial" pitchFamily="34" charset="-120"/>
              </a:rPr>
              <a:t>Una app de mensajería que guarda cada conversación como un bloque independiente, sin una estructura fija de columnas.</a:t>
            </a:r>
            <a:endParaRPr lang="en-US" sz="1250"/>
          </a:p>
        </p:txBody>
      </p:sp>
      <p:sp>
        <p:nvSpPr>
          <p:cNvPr id="11" name="Shape 9"/>
          <p:cNvSpPr/>
          <p:nvPr/>
        </p:nvSpPr>
        <p:spPr>
          <a:xfrm>
            <a:off x="548640" y="2852928"/>
            <a:ext cx="329184" cy="329184"/>
          </a:xfrm>
          <a:prstGeom prst="ellipse">
            <a:avLst/>
          </a:prstGeom>
          <a:solidFill>
            <a:srgbClr val="00A896"/>
          </a:solidFill>
          <a:ln/>
        </p:spPr>
      </p:sp>
      <p:sp>
        <p:nvSpPr>
          <p:cNvPr id="12" name="Text 10"/>
          <p:cNvSpPr txBox="1"/>
          <p:nvPr/>
        </p:nvSpPr>
        <p:spPr>
          <a:xfrm>
            <a:off x="548640" y="2852928"/>
            <a:ext cx="329184" cy="329184"/>
          </a:xfrm>
          <a:prstGeom prst="rect">
            <a:avLst/>
          </a:prstGeom>
          <a:noFill/>
          <a:ln/>
        </p:spPr>
        <p:txBody>
          <a:bodyPr wrap="square" lIns="0" tIns="0" rIns="0" bIns="0" rtlCol="0" anchor="ctr"/>
          <a:lstStyle/>
          <a:p>
            <a:pPr marL="0" indent="0" algn="ctr">
              <a:buNone/>
            </a:pPr>
            <a:r>
              <a:rPr lang="en-US" sz="936" b="1">
                <a:solidFill>
                  <a:srgbClr val="FFFFFF"/>
                </a:solidFill>
                <a:latin typeface="Arial" pitchFamily="34" charset="0"/>
                <a:ea typeface="Arial" pitchFamily="34" charset="-122"/>
                <a:cs typeface="Arial" pitchFamily="34" charset="-120"/>
              </a:rPr>
              <a:t>3</a:t>
            </a:r>
            <a:endParaRPr lang="en-US" sz="936"/>
          </a:p>
        </p:txBody>
      </p:sp>
      <p:sp>
        <p:nvSpPr>
          <p:cNvPr id="13" name="Text 11"/>
          <p:cNvSpPr txBox="1"/>
          <p:nvPr/>
        </p:nvSpPr>
        <p:spPr>
          <a:xfrm>
            <a:off x="1051560" y="2816352"/>
            <a:ext cx="10287000" cy="502920"/>
          </a:xfrm>
          <a:prstGeom prst="rect">
            <a:avLst/>
          </a:prstGeom>
          <a:noFill/>
          <a:ln/>
        </p:spPr>
        <p:txBody>
          <a:bodyPr wrap="square" lIns="0" tIns="0" rIns="0" bIns="0" rtlCol="0" anchor="t"/>
          <a:lstStyle/>
          <a:p>
            <a:pPr marL="0" indent="0">
              <a:lnSpc>
                <a:spcPct val="115000"/>
              </a:lnSpc>
              <a:buNone/>
            </a:pPr>
            <a:r>
              <a:rPr lang="en-US" sz="1250">
                <a:solidFill>
                  <a:srgbClr val="1A1A1A"/>
                </a:solidFill>
                <a:latin typeface="Arial" pitchFamily="34" charset="0"/>
                <a:ea typeface="Arial" pitchFamily="34" charset="-122"/>
                <a:cs typeface="Arial" pitchFamily="34" charset="-120"/>
              </a:rPr>
              <a:t>El sistema de carpetas de tu ordenador, donde cada carpeta puede contener subcarpetas, pero cada subcarpeta solo pertenece a una carpeta.</a:t>
            </a:r>
            <a:endParaRPr lang="en-US" sz="1250"/>
          </a:p>
        </p:txBody>
      </p:sp>
      <p:sp>
        <p:nvSpPr>
          <p:cNvPr id="14" name="Shape 12"/>
          <p:cNvSpPr/>
          <p:nvPr/>
        </p:nvSpPr>
        <p:spPr>
          <a:xfrm>
            <a:off x="548640" y="3364992"/>
            <a:ext cx="329184" cy="329184"/>
          </a:xfrm>
          <a:prstGeom prst="ellipse">
            <a:avLst/>
          </a:prstGeom>
          <a:solidFill>
            <a:srgbClr val="00A896"/>
          </a:solidFill>
          <a:ln/>
        </p:spPr>
      </p:sp>
      <p:sp>
        <p:nvSpPr>
          <p:cNvPr id="15" name="Text 13"/>
          <p:cNvSpPr txBox="1"/>
          <p:nvPr/>
        </p:nvSpPr>
        <p:spPr>
          <a:xfrm>
            <a:off x="548640" y="3364992"/>
            <a:ext cx="329184" cy="329184"/>
          </a:xfrm>
          <a:prstGeom prst="rect">
            <a:avLst/>
          </a:prstGeom>
          <a:noFill/>
          <a:ln/>
        </p:spPr>
        <p:txBody>
          <a:bodyPr wrap="square" lIns="0" tIns="0" rIns="0" bIns="0" rtlCol="0" anchor="ctr"/>
          <a:lstStyle/>
          <a:p>
            <a:pPr marL="0" indent="0" algn="ctr">
              <a:buNone/>
            </a:pPr>
            <a:r>
              <a:rPr lang="en-US" sz="936" b="1">
                <a:solidFill>
                  <a:srgbClr val="FFFFFF"/>
                </a:solidFill>
                <a:latin typeface="Arial" pitchFamily="34" charset="0"/>
                <a:ea typeface="Arial" pitchFamily="34" charset="-122"/>
                <a:cs typeface="Arial" pitchFamily="34" charset="-120"/>
              </a:rPr>
              <a:t>4</a:t>
            </a:r>
            <a:endParaRPr lang="en-US" sz="936"/>
          </a:p>
        </p:txBody>
      </p:sp>
      <p:sp>
        <p:nvSpPr>
          <p:cNvPr id="16" name="Text 14"/>
          <p:cNvSpPr txBox="1"/>
          <p:nvPr/>
        </p:nvSpPr>
        <p:spPr>
          <a:xfrm>
            <a:off x="1051560" y="3328416"/>
            <a:ext cx="10287000" cy="502920"/>
          </a:xfrm>
          <a:prstGeom prst="rect">
            <a:avLst/>
          </a:prstGeom>
          <a:noFill/>
          <a:ln/>
        </p:spPr>
        <p:txBody>
          <a:bodyPr wrap="square" lIns="0" tIns="0" rIns="0" bIns="0" rtlCol="0" anchor="t"/>
          <a:lstStyle/>
          <a:p>
            <a:pPr marL="0" indent="0">
              <a:lnSpc>
                <a:spcPct val="115000"/>
              </a:lnSpc>
              <a:buNone/>
            </a:pPr>
            <a:r>
              <a:rPr lang="en-US" sz="1250">
                <a:solidFill>
                  <a:srgbClr val="1A1A1A"/>
                </a:solidFill>
                <a:latin typeface="Arial" pitchFamily="34" charset="0"/>
                <a:ea typeface="Arial" pitchFamily="34" charset="-122"/>
                <a:cs typeface="Arial" pitchFamily="34" charset="-120"/>
              </a:rPr>
              <a:t>Un videojuego que guarda cada personaje como un objeto completo, con sus propios métodos para moverse o atacar.</a:t>
            </a:r>
            <a:endParaRPr lang="en-US" sz="1250"/>
          </a:p>
        </p:txBody>
      </p:sp>
      <p:sp>
        <p:nvSpPr>
          <p:cNvPr id="17" name="Shape 15"/>
          <p:cNvSpPr/>
          <p:nvPr/>
        </p:nvSpPr>
        <p:spPr>
          <a:xfrm>
            <a:off x="548640" y="4014216"/>
            <a:ext cx="10789920" cy="2249424"/>
          </a:xfrm>
          <a:prstGeom prst="roundRect">
            <a:avLst>
              <a:gd name="adj" fmla="val 3252"/>
            </a:avLst>
          </a:prstGeom>
          <a:solidFill>
            <a:srgbClr val="E2EAEA"/>
          </a:solidFill>
          <a:ln/>
        </p:spPr>
      </p:sp>
      <p:sp>
        <p:nvSpPr>
          <p:cNvPr id="18" name="Text 16"/>
          <p:cNvSpPr txBox="1"/>
          <p:nvPr/>
        </p:nvSpPr>
        <p:spPr>
          <a:xfrm>
            <a:off x="777240" y="4123944"/>
            <a:ext cx="3657600" cy="274320"/>
          </a:xfrm>
          <a:prstGeom prst="rect">
            <a:avLst/>
          </a:prstGeom>
          <a:noFill/>
          <a:ln/>
        </p:spPr>
        <p:txBody>
          <a:bodyPr wrap="square" lIns="0" tIns="0" rIns="0" bIns="0" rtlCol="0" anchor="ctr"/>
          <a:lstStyle/>
          <a:p>
            <a:pPr marL="0" indent="0">
              <a:buNone/>
            </a:pPr>
            <a:r>
              <a:rPr lang="en-US" sz="1050" b="1" kern="0" spc="100">
                <a:solidFill>
                  <a:srgbClr val="028090"/>
                </a:solidFill>
                <a:latin typeface="Arial" pitchFamily="34" charset="0"/>
                <a:ea typeface="Arial" pitchFamily="34" charset="-122"/>
                <a:cs typeface="Arial" pitchFamily="34" charset="-120"/>
              </a:rPr>
              <a:t>SOLUCIÓN</a:t>
            </a:r>
            <a:endParaRPr lang="en-US" sz="1050"/>
          </a:p>
        </p:txBody>
      </p:sp>
      <p:sp>
        <p:nvSpPr>
          <p:cNvPr id="19" name="Text 17"/>
          <p:cNvSpPr txBox="1"/>
          <p:nvPr/>
        </p:nvSpPr>
        <p:spPr>
          <a:xfrm>
            <a:off x="777240" y="4425696"/>
            <a:ext cx="10332720" cy="1746504"/>
          </a:xfrm>
          <a:prstGeom prst="rect">
            <a:avLst/>
          </a:prstGeom>
          <a:noFill/>
          <a:ln/>
        </p:spPr>
        <p:txBody>
          <a:bodyPr wrap="square" lIns="0" tIns="0" rIns="0" bIns="0" rtlCol="0" anchor="t"/>
          <a:lstStyle/>
          <a:p>
            <a:pPr marL="0" indent="0">
              <a:lnSpc>
                <a:spcPct val="120000"/>
              </a:lnSpc>
              <a:spcAft>
                <a:spcPts val="600"/>
              </a:spcAft>
              <a:buNone/>
            </a:pPr>
            <a:r>
              <a:rPr lang="en-US" sz="1150">
                <a:solidFill>
                  <a:srgbClr val="444444"/>
                </a:solidFill>
                <a:latin typeface="Arial" pitchFamily="34" charset="0"/>
                <a:ea typeface="Arial" pitchFamily="34" charset="-122"/>
                <a:cs typeface="Arial" pitchFamily="34" charset="-120"/>
              </a:rPr>
              <a:t>1. Relacional: datos muy estructurados y con relaciones claras entre tablas (productos-categorías-pedidos).</a:t>
            </a:r>
            <a:endParaRPr lang="en-US" sz="1150"/>
          </a:p>
          <a:p>
            <a:pPr marL="0" indent="0">
              <a:lnSpc>
                <a:spcPct val="120000"/>
              </a:lnSpc>
              <a:spcAft>
                <a:spcPts val="600"/>
              </a:spcAft>
              <a:buNone/>
            </a:pPr>
            <a:r>
              <a:rPr lang="en-US" sz="1150">
                <a:solidFill>
                  <a:srgbClr val="444444"/>
                </a:solidFill>
                <a:latin typeface="Arial" pitchFamily="34" charset="0"/>
                <a:ea typeface="Arial" pitchFamily="34" charset="-122"/>
                <a:cs typeface="Arial" pitchFamily="34" charset="-120"/>
              </a:rPr>
              <a:t>2. No relacional (documental): estructura flexible, cada documento puede ser distinto al siguiente.</a:t>
            </a:r>
            <a:endParaRPr lang="en-US" sz="1150"/>
          </a:p>
          <a:p>
            <a:pPr marL="0" indent="0">
              <a:lnSpc>
                <a:spcPct val="120000"/>
              </a:lnSpc>
              <a:spcAft>
                <a:spcPts val="600"/>
              </a:spcAft>
              <a:buNone/>
            </a:pPr>
            <a:r>
              <a:rPr lang="en-US" sz="1150">
                <a:solidFill>
                  <a:srgbClr val="444444"/>
                </a:solidFill>
                <a:latin typeface="Arial" pitchFamily="34" charset="0"/>
                <a:ea typeface="Arial" pitchFamily="34" charset="-122"/>
                <a:cs typeface="Arial" pitchFamily="34" charset="-120"/>
              </a:rPr>
              <a:t>3. Jerárquica: relación de "padre único" típica de un árbol de carpetas.</a:t>
            </a:r>
            <a:endParaRPr lang="en-US" sz="1150"/>
          </a:p>
          <a:p>
            <a:pPr marL="0" indent="0">
              <a:lnSpc>
                <a:spcPct val="120000"/>
              </a:lnSpc>
              <a:spcAft>
                <a:spcPts val="600"/>
              </a:spcAft>
              <a:buNone/>
            </a:pPr>
            <a:r>
              <a:rPr lang="en-US" sz="1150">
                <a:solidFill>
                  <a:srgbClr val="444444"/>
                </a:solidFill>
                <a:latin typeface="Arial" pitchFamily="34" charset="0"/>
                <a:ea typeface="Arial" pitchFamily="34" charset="-122"/>
                <a:cs typeface="Arial" pitchFamily="34" charset="-120"/>
              </a:rPr>
              <a:t>4. Orientada a objetos: tiene sentido guardar el objeto completo, no solo sus datos sueltos.</a:t>
            </a:r>
            <a:endParaRPr lang="en-US" sz="1150"/>
          </a:p>
        </p:txBody>
      </p:sp>
      <p:sp>
        <p:nvSpPr>
          <p:cNvPr id="20" name="Text 18"/>
          <p:cNvSpPr txBox="1"/>
          <p:nvPr/>
        </p:nvSpPr>
        <p:spPr>
          <a:xfrm>
            <a:off x="457200" y="6510528"/>
            <a:ext cx="7315200" cy="274320"/>
          </a:xfrm>
          <a:prstGeom prst="rect">
            <a:avLst/>
          </a:prstGeom>
          <a:noFill/>
          <a:ln/>
        </p:spPr>
        <p:txBody>
          <a:bodyPr wrap="square" lIns="0" tIns="0" rIns="0" bIns="0" rtlCol="0" anchor="ctr"/>
          <a:lstStyle/>
          <a:p>
            <a:pPr marL="0" indent="0">
              <a:buNone/>
            </a:pPr>
            <a:r>
              <a:rPr lang="en-US" sz="900">
                <a:solidFill>
                  <a:srgbClr val="6B6B6B"/>
                </a:solidFill>
                <a:latin typeface="Arial" pitchFamily="34" charset="0"/>
                <a:ea typeface="Arial" pitchFamily="34" charset="-122"/>
                <a:cs typeface="Arial" pitchFamily="34" charset="-120"/>
              </a:rPr>
              <a:t>Cap. 1 · Ejercicio: modelos de datos</a:t>
            </a:r>
            <a:endParaRPr lang="en-US" sz="900"/>
          </a:p>
        </p:txBody>
      </p:sp>
      <p:sp>
        <p:nvSpPr>
          <p:cNvPr id="21" name="Text 19"/>
          <p:cNvSpPr txBox="1"/>
          <p:nvPr/>
        </p:nvSpPr>
        <p:spPr>
          <a:xfrm>
            <a:off x="8074152" y="6510528"/>
            <a:ext cx="3657600" cy="274320"/>
          </a:xfrm>
          <a:prstGeom prst="rect">
            <a:avLst/>
          </a:prstGeom>
          <a:noFill/>
          <a:ln/>
        </p:spPr>
        <p:txBody>
          <a:bodyPr wrap="square" lIns="0" tIns="0" rIns="0" bIns="0" rtlCol="0" anchor="ctr"/>
          <a:lstStyle/>
          <a:p>
            <a:pPr marL="0" indent="0" algn="r">
              <a:buNone/>
            </a:pPr>
            <a:r>
              <a:rPr lang="en-US" sz="900">
                <a:solidFill>
                  <a:srgbClr val="6B6B6B"/>
                </a:solidFill>
                <a:latin typeface="Arial" pitchFamily="34" charset="0"/>
                <a:ea typeface="Arial" pitchFamily="34" charset="-122"/>
                <a:cs typeface="Arial" pitchFamily="34" charset="-120"/>
              </a:rPr>
              <a:t>Bases de Datos · DAM/DAW</a:t>
            </a:r>
            <a:endParaRPr lang="en-US" sz="9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DDDDDD"/>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789920" cy="292608"/>
          </a:xfrm>
          <a:prstGeom prst="rect">
            <a:avLst/>
          </a:prstGeom>
          <a:noFill/>
          <a:ln/>
        </p:spPr>
        <p:txBody>
          <a:bodyPr wrap="square" lIns="0" tIns="0" rIns="0" bIns="0" rtlCol="0" anchor="ctr"/>
          <a:lstStyle/>
          <a:p>
            <a:pPr marL="0" indent="0">
              <a:buNone/>
            </a:pPr>
            <a:r>
              <a:rPr lang="en-US" sz="1150" b="1" kern="0" spc="50">
                <a:solidFill>
                  <a:srgbClr val="028090"/>
                </a:solidFill>
                <a:latin typeface="Arial" pitchFamily="34" charset="0"/>
                <a:ea typeface="Arial" pitchFamily="34" charset="-122"/>
                <a:cs typeface="Arial" pitchFamily="34" charset="-120"/>
              </a:rPr>
              <a:t>1.3 · TRES FORMAS DE MIRAR LOS MISMOS DATOS</a:t>
            </a:r>
            <a:endParaRPr lang="en-US" sz="1150"/>
          </a:p>
        </p:txBody>
      </p:sp>
      <p:sp>
        <p:nvSpPr>
          <p:cNvPr id="3" name="Text 1"/>
          <p:cNvSpPr txBox="1"/>
          <p:nvPr/>
        </p:nvSpPr>
        <p:spPr>
          <a:xfrm>
            <a:off x="548640" y="621792"/>
            <a:ext cx="10789920" cy="685800"/>
          </a:xfrm>
          <a:prstGeom prst="rect">
            <a:avLst/>
          </a:prstGeom>
          <a:noFill/>
          <a:ln/>
        </p:spPr>
        <p:txBody>
          <a:bodyPr wrap="square" lIns="0" tIns="0" rIns="0" bIns="0" rtlCol="0" anchor="ctr"/>
          <a:lstStyle/>
          <a:p>
            <a:pPr marL="0" indent="0">
              <a:buNone/>
            </a:pPr>
            <a:r>
              <a:rPr lang="en-US" sz="2400" b="1">
                <a:solidFill>
                  <a:srgbClr val="1A1A1A"/>
                </a:solidFill>
                <a:latin typeface="Arial" pitchFamily="34" charset="0"/>
                <a:ea typeface="Arial" pitchFamily="34" charset="-122"/>
                <a:cs typeface="Arial" pitchFamily="34" charset="-120"/>
              </a:rPr>
              <a:t>Los tres niveles de una base de datos</a:t>
            </a:r>
            <a:endParaRPr lang="en-US" sz="2400"/>
          </a:p>
        </p:txBody>
      </p:sp>
      <p:sp>
        <p:nvSpPr>
          <p:cNvPr id="4" name="Text 2"/>
          <p:cNvSpPr txBox="1"/>
          <p:nvPr/>
        </p:nvSpPr>
        <p:spPr>
          <a:xfrm>
            <a:off x="548640" y="1417320"/>
            <a:ext cx="10789920" cy="457200"/>
          </a:xfrm>
          <a:prstGeom prst="rect">
            <a:avLst/>
          </a:prstGeom>
          <a:noFill/>
          <a:ln/>
        </p:spPr>
        <p:txBody>
          <a:bodyPr wrap="square" lIns="0" tIns="0" rIns="0" bIns="0" rtlCol="0" anchor="ctr"/>
          <a:lstStyle/>
          <a:p>
            <a:pPr marL="0" indent="0">
              <a:lnSpc>
                <a:spcPct val="120000"/>
              </a:lnSpc>
              <a:buNone/>
            </a:pPr>
            <a:r>
              <a:rPr lang="en-US" sz="1250" i="1">
                <a:solidFill>
                  <a:srgbClr val="444444"/>
                </a:solidFill>
                <a:latin typeface="Arial" pitchFamily="34" charset="0"/>
                <a:ea typeface="Arial" pitchFamily="34" charset="-122"/>
                <a:cs typeface="Arial" pitchFamily="34" charset="-120"/>
              </a:rPr>
              <a:t>Para que distintas aplicaciones puedan usar la misma base de datos sin pisarse, se suele describir en tres niveles (arquitectura ANSI/SPARC).</a:t>
            </a:r>
            <a:endParaRPr lang="en-US" sz="1250"/>
          </a:p>
        </p:txBody>
      </p:sp>
      <p:sp>
        <p:nvSpPr>
          <p:cNvPr id="5" name="Text 3"/>
          <p:cNvSpPr txBox="1"/>
          <p:nvPr/>
        </p:nvSpPr>
        <p:spPr>
          <a:xfrm>
            <a:off x="548640" y="1920240"/>
            <a:ext cx="10789920" cy="4389120"/>
          </a:xfrm>
          <a:prstGeom prst="rect">
            <a:avLst/>
          </a:prstGeom>
          <a:noFill/>
          <a:ln/>
        </p:spPr>
        <p:txBody>
          <a:bodyPr wrap="square" lIns="0" tIns="0" rIns="0" bIns="0" rtlCol="0" anchor="t"/>
          <a:lstStyle/>
          <a:p>
            <a:pPr marL="342900" indent="-342900">
              <a:lnSpc>
                <a:spcPct val="125000"/>
              </a:lnSpc>
              <a:spcAft>
                <a:spcPts val="1000"/>
              </a:spcAft>
              <a:buSzPct val="100000"/>
              <a:buChar char="•"/>
            </a:pPr>
            <a:r>
              <a:rPr lang="en-US" sz="1350">
                <a:solidFill>
                  <a:srgbClr val="1A1A1A"/>
                </a:solidFill>
                <a:latin typeface="Arial" pitchFamily="34" charset="0"/>
                <a:ea typeface="Arial" pitchFamily="34" charset="-122"/>
                <a:cs typeface="Arial" pitchFamily="34" charset="-120"/>
              </a:rPr>
              <a:t>Nivel externo: lo que ve cada usuario o aplicación concreta — puede que un profesor solo vea las notas de su grupo, y no toda la base de datos del centro.</a:t>
            </a:r>
            <a:endParaRPr lang="en-US" sz="1350"/>
          </a:p>
          <a:p>
            <a:pPr marL="342900" indent="-342900">
              <a:lnSpc>
                <a:spcPct val="125000"/>
              </a:lnSpc>
              <a:spcAft>
                <a:spcPts val="1000"/>
              </a:spcAft>
              <a:buSzPct val="100000"/>
              <a:buChar char="•"/>
            </a:pPr>
            <a:r>
              <a:rPr lang="en-US" sz="1350">
                <a:solidFill>
                  <a:srgbClr val="1A1A1A"/>
                </a:solidFill>
                <a:latin typeface="Arial" pitchFamily="34" charset="0"/>
                <a:ea typeface="Arial" pitchFamily="34" charset="-122"/>
                <a:cs typeface="Arial" pitchFamily="34" charset="-120"/>
              </a:rPr>
              <a:t>Nivel conceptual: la estructura completa de la base de datos, con todas sus tablas y relaciones, independientemente de quién la use.</a:t>
            </a:r>
            <a:endParaRPr lang="en-US" sz="1350"/>
          </a:p>
          <a:p>
            <a:pPr marL="342900" indent="-342900">
              <a:lnSpc>
                <a:spcPct val="125000"/>
              </a:lnSpc>
              <a:spcAft>
                <a:spcPts val="1000"/>
              </a:spcAft>
              <a:buSzPct val="100000"/>
              <a:buChar char="•"/>
            </a:pPr>
            <a:r>
              <a:rPr lang="en-US" sz="1350">
                <a:solidFill>
                  <a:srgbClr val="1A1A1A"/>
                </a:solidFill>
                <a:latin typeface="Arial" pitchFamily="34" charset="0"/>
                <a:ea typeface="Arial" pitchFamily="34" charset="-122"/>
                <a:cs typeface="Arial" pitchFamily="34" charset="-120"/>
              </a:rPr>
              <a:t>Nivel interno (físico): cómo se guardan realmente los datos en el disco — ficheros, índices, bloques de almacenamiento.</a:t>
            </a:r>
            <a:endParaRPr lang="en-US" sz="1350"/>
          </a:p>
          <a:p>
            <a:pPr marL="342900" indent="-342900">
              <a:lnSpc>
                <a:spcPct val="125000"/>
              </a:lnSpc>
              <a:spcAft>
                <a:spcPts val="1000"/>
              </a:spcAft>
              <a:buSzPct val="100000"/>
              <a:buChar char="•"/>
            </a:pPr>
            <a:r>
              <a:rPr lang="en-US" sz="1350">
                <a:solidFill>
                  <a:srgbClr val="1A1A1A"/>
                </a:solidFill>
                <a:latin typeface="Arial" pitchFamily="34" charset="0"/>
                <a:ea typeface="Arial" pitchFamily="34" charset="-122"/>
                <a:cs typeface="Arial" pitchFamily="34" charset="-120"/>
              </a:rPr>
              <a:t>La ventaja de separar estos niveles: puedes cambiar cómo se guardan físicamente los datos (nivel interno) sin que las aplicaciones que los usan (nivel externo) tengan que cambiar nada.</a:t>
            </a:r>
            <a:endParaRPr lang="en-US" sz="1350"/>
          </a:p>
        </p:txBody>
      </p:sp>
      <p:sp>
        <p:nvSpPr>
          <p:cNvPr id="6" name="Text 4"/>
          <p:cNvSpPr txBox="1"/>
          <p:nvPr/>
        </p:nvSpPr>
        <p:spPr>
          <a:xfrm>
            <a:off x="457200" y="6510528"/>
            <a:ext cx="7315200" cy="274320"/>
          </a:xfrm>
          <a:prstGeom prst="rect">
            <a:avLst/>
          </a:prstGeom>
          <a:noFill/>
          <a:ln/>
        </p:spPr>
        <p:txBody>
          <a:bodyPr wrap="square" lIns="0" tIns="0" rIns="0" bIns="0" rtlCol="0" anchor="ctr"/>
          <a:lstStyle/>
          <a:p>
            <a:pPr marL="0" indent="0">
              <a:buNone/>
            </a:pPr>
            <a:r>
              <a:rPr lang="en-US" sz="900">
                <a:solidFill>
                  <a:srgbClr val="6B6B6B"/>
                </a:solidFill>
                <a:latin typeface="Arial" pitchFamily="34" charset="0"/>
                <a:ea typeface="Arial" pitchFamily="34" charset="-122"/>
                <a:cs typeface="Arial" pitchFamily="34" charset="-120"/>
              </a:rPr>
              <a:t>Cap. 1 · Niveles de abstracción</a:t>
            </a:r>
            <a:endParaRPr lang="en-US" sz="900"/>
          </a:p>
        </p:txBody>
      </p:sp>
      <p:sp>
        <p:nvSpPr>
          <p:cNvPr id="7" name="Text 5"/>
          <p:cNvSpPr txBox="1"/>
          <p:nvPr/>
        </p:nvSpPr>
        <p:spPr>
          <a:xfrm>
            <a:off x="8074152" y="6510528"/>
            <a:ext cx="3657600" cy="274320"/>
          </a:xfrm>
          <a:prstGeom prst="rect">
            <a:avLst/>
          </a:prstGeom>
          <a:noFill/>
          <a:ln/>
        </p:spPr>
        <p:txBody>
          <a:bodyPr wrap="square" lIns="0" tIns="0" rIns="0" bIns="0" rtlCol="0" anchor="ctr"/>
          <a:lstStyle/>
          <a:p>
            <a:pPr marL="0" indent="0" algn="r">
              <a:buNone/>
            </a:pPr>
            <a:r>
              <a:rPr lang="en-US" sz="900">
                <a:solidFill>
                  <a:srgbClr val="6B6B6B"/>
                </a:solidFill>
                <a:latin typeface="Arial" pitchFamily="34" charset="0"/>
                <a:ea typeface="Arial" pitchFamily="34" charset="-122"/>
                <a:cs typeface="Arial" pitchFamily="34" charset="-120"/>
              </a:rPr>
              <a:t>Bases de Datos · DAM/DAW</a:t>
            </a:r>
            <a:endParaRPr lang="en-US" sz="9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DDDDDD"/>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789920" cy="292608"/>
          </a:xfrm>
          <a:prstGeom prst="rect">
            <a:avLst/>
          </a:prstGeom>
          <a:noFill/>
          <a:ln/>
        </p:spPr>
        <p:txBody>
          <a:bodyPr wrap="square" lIns="0" tIns="0" rIns="0" bIns="0" rtlCol="0" anchor="ctr"/>
          <a:lstStyle/>
          <a:p>
            <a:pPr marL="0" indent="0">
              <a:buNone/>
            </a:pPr>
            <a:r>
              <a:rPr lang="en-US" sz="1150" b="1" kern="0" spc="50">
                <a:solidFill>
                  <a:srgbClr val="028090"/>
                </a:solidFill>
                <a:latin typeface="Arial" pitchFamily="34" charset="0"/>
                <a:ea typeface="Arial" pitchFamily="34" charset="-122"/>
                <a:cs typeface="Arial" pitchFamily="34" charset="-120"/>
              </a:rPr>
              <a:t>1.4 · ¿DÓNDE VIVEN LOS DATOS?</a:t>
            </a:r>
            <a:endParaRPr lang="en-US" sz="1150"/>
          </a:p>
        </p:txBody>
      </p:sp>
      <p:sp>
        <p:nvSpPr>
          <p:cNvPr id="3" name="Text 1"/>
          <p:cNvSpPr txBox="1"/>
          <p:nvPr/>
        </p:nvSpPr>
        <p:spPr>
          <a:xfrm>
            <a:off x="548640" y="621792"/>
            <a:ext cx="10789920" cy="685800"/>
          </a:xfrm>
          <a:prstGeom prst="rect">
            <a:avLst/>
          </a:prstGeom>
          <a:noFill/>
          <a:ln/>
        </p:spPr>
        <p:txBody>
          <a:bodyPr wrap="square" lIns="0" tIns="0" rIns="0" bIns="0" rtlCol="0" anchor="ctr"/>
          <a:lstStyle/>
          <a:p>
            <a:pPr marL="0" indent="0">
              <a:buNone/>
            </a:pPr>
            <a:r>
              <a:rPr lang="en-US" sz="2400" b="1">
                <a:solidFill>
                  <a:srgbClr val="1A1A1A"/>
                </a:solidFill>
                <a:latin typeface="Arial" pitchFamily="34" charset="0"/>
                <a:ea typeface="Arial" pitchFamily="34" charset="-122"/>
                <a:cs typeface="Arial" pitchFamily="34" charset="-120"/>
              </a:rPr>
              <a:t>Centralizadas vs. distribuidas</a:t>
            </a:r>
            <a:endParaRPr lang="en-US" sz="2400"/>
          </a:p>
        </p:txBody>
      </p:sp>
      <p:sp>
        <p:nvSpPr>
          <p:cNvPr id="4" name="Text 2"/>
          <p:cNvSpPr txBox="1"/>
          <p:nvPr/>
        </p:nvSpPr>
        <p:spPr>
          <a:xfrm>
            <a:off x="548640" y="1417320"/>
            <a:ext cx="10789920" cy="411480"/>
          </a:xfrm>
          <a:prstGeom prst="rect">
            <a:avLst/>
          </a:prstGeom>
          <a:noFill/>
          <a:ln/>
        </p:spPr>
        <p:txBody>
          <a:bodyPr wrap="square" lIns="0" tIns="0" rIns="0" bIns="0" rtlCol="0" anchor="ctr"/>
          <a:lstStyle/>
          <a:p>
            <a:pPr marL="0" indent="0">
              <a:lnSpc>
                <a:spcPct val="120000"/>
              </a:lnSpc>
              <a:buNone/>
            </a:pPr>
            <a:r>
              <a:rPr lang="en-US" sz="1250">
                <a:solidFill>
                  <a:srgbClr val="444444"/>
                </a:solidFill>
                <a:latin typeface="Arial" pitchFamily="34" charset="0"/>
                <a:ea typeface="Arial" pitchFamily="34" charset="-122"/>
                <a:cs typeface="Arial" pitchFamily="34" charset="-120"/>
              </a:rPr>
              <a:t>Imagina una plataforma de streaming: si guardara todas sus series en un único servidor en España, alguien viendo contenido desde otro continente notaría muchísimo lag. Por eso se reparten los datos.</a:t>
            </a:r>
            <a:endParaRPr lang="en-US" sz="125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920240"/>
          <a:ext cx="11064240" cy="2286000"/>
        </p:xfrm>
        <a:graphic>
          <a:graphicData uri="http://schemas.openxmlformats.org/drawingml/2006/table">
            <a:tbl>
              <a:tblPr/>
              <a:tblGrid>
                <a:gridCol w="3200400">
                  <a:extLst>
                    <a:ext uri="{9D8B030D-6E8A-4147-A177-3AD203B41FA5}">
                      <a16:colId xmlns:a16="http://schemas.microsoft.com/office/drawing/2014/main" val="20000"/>
                    </a:ext>
                  </a:extLst>
                </a:gridCol>
                <a:gridCol w="3931920">
                  <a:extLst>
                    <a:ext uri="{9D8B030D-6E8A-4147-A177-3AD203B41FA5}">
                      <a16:colId xmlns:a16="http://schemas.microsoft.com/office/drawing/2014/main" val="20001"/>
                    </a:ext>
                  </a:extLst>
                </a:gridCol>
                <a:gridCol w="3931920">
                  <a:extLst>
                    <a:ext uri="{9D8B030D-6E8A-4147-A177-3AD203B41FA5}">
                      <a16:colId xmlns:a16="http://schemas.microsoft.com/office/drawing/2014/main" val="20002"/>
                    </a:ext>
                  </a:extLst>
                </a:gridCol>
              </a:tblGrid>
              <a:tr h="457200">
                <a:tc>
                  <a:txBody>
                    <a:bodyPr/>
                    <a:lstStyle/>
                    <a:p>
                      <a:pPr marL="0" indent="0" algn="l">
                        <a:buNone/>
                      </a:pPr>
                      <a:r>
                        <a:rPr lang="en-US" sz="1200" b="1">
                          <a:solidFill>
                            <a:srgbClr val="FFFFFF"/>
                          </a:solidFill>
                          <a:latin typeface="Arial" pitchFamily="34" charset="0"/>
                          <a:ea typeface="Arial" pitchFamily="34" charset="-122"/>
                          <a:cs typeface="Arial" pitchFamily="34" charset="-120"/>
                        </a:rPr>
                        <a:t>Aspecto</a:t>
                      </a:r>
                      <a:endParaRPr lang="en-US" sz="1200">
                        <a:latin typeface="Arial" charset="0"/>
                        <a:ea typeface="Arial" charset="0"/>
                        <a:cs typeface="Arial"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028090"/>
                    </a:solidFill>
                  </a:tcPr>
                </a:tc>
                <a:tc>
                  <a:txBody>
                    <a:bodyPr/>
                    <a:lstStyle/>
                    <a:p>
                      <a:pPr marL="0" indent="0" algn="l">
                        <a:buNone/>
                      </a:pPr>
                      <a:r>
                        <a:rPr lang="en-US" sz="1200" b="1">
                          <a:solidFill>
                            <a:srgbClr val="FFFFFF"/>
                          </a:solidFill>
                          <a:latin typeface="Arial" pitchFamily="34" charset="0"/>
                          <a:ea typeface="Arial" pitchFamily="34" charset="-122"/>
                          <a:cs typeface="Arial" pitchFamily="34" charset="-120"/>
                        </a:rPr>
                        <a:t>Centralizada</a:t>
                      </a:r>
                      <a:endParaRPr lang="en-US" sz="1200">
                        <a:latin typeface="Arial" charset="0"/>
                        <a:ea typeface="Arial" charset="0"/>
                        <a:cs typeface="Arial"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028090"/>
                    </a:solidFill>
                  </a:tcPr>
                </a:tc>
                <a:tc>
                  <a:txBody>
                    <a:bodyPr/>
                    <a:lstStyle/>
                    <a:p>
                      <a:pPr marL="0" indent="0" algn="l">
                        <a:buNone/>
                      </a:pPr>
                      <a:r>
                        <a:rPr lang="en-US" sz="1200" b="1">
                          <a:solidFill>
                            <a:srgbClr val="FFFFFF"/>
                          </a:solidFill>
                          <a:latin typeface="Arial" pitchFamily="34" charset="0"/>
                          <a:ea typeface="Arial" pitchFamily="34" charset="-122"/>
                          <a:cs typeface="Arial" pitchFamily="34" charset="-120"/>
                        </a:rPr>
                        <a:t>Distribuida</a:t>
                      </a:r>
                      <a:endParaRPr lang="en-US" sz="1200">
                        <a:latin typeface="Arial" charset="0"/>
                        <a:ea typeface="Arial" charset="0"/>
                        <a:cs typeface="Arial"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028090"/>
                    </a:solidFill>
                  </a:tcPr>
                </a:tc>
                <a:extLst>
                  <a:ext uri="{0D108BD9-81ED-4DB2-BD59-A6C34878D82A}">
                    <a16:rowId xmlns:a16="http://schemas.microsoft.com/office/drawing/2014/main" val="10000"/>
                  </a:ext>
                </a:extLst>
              </a:tr>
              <a:tr h="457200">
                <a:tc>
                  <a:txBody>
                    <a:bodyPr/>
                    <a:lstStyle/>
                    <a:p>
                      <a:pPr marL="0" indent="0" algn="l">
                        <a:buNone/>
                      </a:pPr>
                      <a:r>
                        <a:rPr lang="en-US" sz="1150">
                          <a:solidFill>
                            <a:srgbClr val="1A1A1A"/>
                          </a:solidFill>
                          <a:latin typeface="Arial" pitchFamily="34" charset="0"/>
                          <a:ea typeface="Arial" pitchFamily="34" charset="-122"/>
                          <a:cs typeface="Arial" pitchFamily="34" charset="-120"/>
                        </a:rPr>
                        <a:t>¿Dónde están los datos?</a:t>
                      </a:r>
                      <a:endParaRPr lang="en-US" sz="1150">
                        <a:latin typeface="Arial" charset="0"/>
                        <a:ea typeface="Arial" charset="0"/>
                        <a:cs typeface="Arial"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E2EAEA"/>
                    </a:solidFill>
                  </a:tcPr>
                </a:tc>
                <a:tc>
                  <a:txBody>
                    <a:bodyPr/>
                    <a:lstStyle/>
                    <a:p>
                      <a:pPr marL="0" indent="0" algn="l">
                        <a:buNone/>
                      </a:pPr>
                      <a:r>
                        <a:rPr lang="en-US" sz="1150">
                          <a:solidFill>
                            <a:srgbClr val="1A1A1A"/>
                          </a:solidFill>
                          <a:latin typeface="Arial" pitchFamily="34" charset="0"/>
                          <a:ea typeface="Arial" pitchFamily="34" charset="-122"/>
                          <a:cs typeface="Arial" pitchFamily="34" charset="-120"/>
                        </a:rPr>
                        <a:t>En un único servidor</a:t>
                      </a:r>
                      <a:endParaRPr lang="en-US" sz="1150">
                        <a:latin typeface="Arial" charset="0"/>
                        <a:ea typeface="Arial" charset="0"/>
                        <a:cs typeface="Arial"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E2EAEA"/>
                    </a:solidFill>
                  </a:tcPr>
                </a:tc>
                <a:tc>
                  <a:txBody>
                    <a:bodyPr/>
                    <a:lstStyle/>
                    <a:p>
                      <a:pPr marL="0" indent="0" algn="l">
                        <a:buNone/>
                      </a:pPr>
                      <a:r>
                        <a:rPr lang="en-US" sz="1150">
                          <a:solidFill>
                            <a:srgbClr val="1A1A1A"/>
                          </a:solidFill>
                          <a:latin typeface="Arial" pitchFamily="34" charset="0"/>
                          <a:ea typeface="Arial" pitchFamily="34" charset="-122"/>
                          <a:cs typeface="Arial" pitchFamily="34" charset="-120"/>
                        </a:rPr>
                        <a:t>Repartidos en varios nodos, quizá en varios países</a:t>
                      </a:r>
                      <a:endParaRPr lang="en-US" sz="1150">
                        <a:latin typeface="Arial" charset="0"/>
                        <a:ea typeface="Arial" charset="0"/>
                        <a:cs typeface="Arial"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E2EAEA"/>
                    </a:solidFill>
                  </a:tcPr>
                </a:tc>
                <a:extLst>
                  <a:ext uri="{0D108BD9-81ED-4DB2-BD59-A6C34878D82A}">
                    <a16:rowId xmlns:a16="http://schemas.microsoft.com/office/drawing/2014/main" val="10001"/>
                  </a:ext>
                </a:extLst>
              </a:tr>
              <a:tr h="457200">
                <a:tc>
                  <a:txBody>
                    <a:bodyPr/>
                    <a:lstStyle/>
                    <a:p>
                      <a:pPr marL="0" indent="0" algn="l">
                        <a:buNone/>
                      </a:pPr>
                      <a:r>
                        <a:rPr lang="en-US" sz="1150">
                          <a:solidFill>
                            <a:srgbClr val="1A1A1A"/>
                          </a:solidFill>
                          <a:latin typeface="Arial" pitchFamily="34" charset="0"/>
                          <a:ea typeface="Arial" pitchFamily="34" charset="-122"/>
                          <a:cs typeface="Arial" pitchFamily="34" charset="-120"/>
                        </a:rPr>
                        <a:t>Si se cae el servidor...</a:t>
                      </a:r>
                      <a:endParaRPr lang="en-US" sz="1150">
                        <a:latin typeface="Arial" charset="0"/>
                        <a:ea typeface="Arial" charset="0"/>
                        <a:cs typeface="Arial"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l">
                        <a:buNone/>
                      </a:pPr>
                      <a:r>
                        <a:rPr lang="en-US" sz="1150">
                          <a:solidFill>
                            <a:srgbClr val="1A1A1A"/>
                          </a:solidFill>
                          <a:latin typeface="Arial" pitchFamily="34" charset="0"/>
                          <a:ea typeface="Arial" pitchFamily="34" charset="-122"/>
                          <a:cs typeface="Arial" pitchFamily="34" charset="-120"/>
                        </a:rPr>
                        <a:t>Se cae todo</a:t>
                      </a:r>
                      <a:endParaRPr lang="en-US" sz="1150">
                        <a:latin typeface="Arial" charset="0"/>
                        <a:ea typeface="Arial" charset="0"/>
                        <a:cs typeface="Arial"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l">
                        <a:buNone/>
                      </a:pPr>
                      <a:r>
                        <a:rPr lang="en-US" sz="1150">
                          <a:solidFill>
                            <a:srgbClr val="1A1A1A"/>
                          </a:solidFill>
                          <a:latin typeface="Arial" pitchFamily="34" charset="0"/>
                          <a:ea typeface="Arial" pitchFamily="34" charset="-122"/>
                          <a:cs typeface="Arial" pitchFamily="34" charset="-120"/>
                        </a:rPr>
                        <a:t>El resto sigue funcionando (hay copias)</a:t>
                      </a:r>
                      <a:endParaRPr lang="en-US" sz="1150">
                        <a:latin typeface="Arial" charset="0"/>
                        <a:ea typeface="Arial" charset="0"/>
                        <a:cs typeface="Arial"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2"/>
                  </a:ext>
                </a:extLst>
              </a:tr>
              <a:tr h="457200">
                <a:tc>
                  <a:txBody>
                    <a:bodyPr/>
                    <a:lstStyle/>
                    <a:p>
                      <a:pPr marL="0" indent="0" algn="l">
                        <a:buNone/>
                      </a:pPr>
                      <a:r>
                        <a:rPr lang="en-US" sz="1150">
                          <a:solidFill>
                            <a:srgbClr val="1A1A1A"/>
                          </a:solidFill>
                          <a:latin typeface="Arial" pitchFamily="34" charset="0"/>
                          <a:ea typeface="Arial" pitchFamily="34" charset="-122"/>
                          <a:cs typeface="Arial" pitchFamily="34" charset="-120"/>
                        </a:rPr>
                        <a:t>Complejidad para gestionarla</a:t>
                      </a:r>
                      <a:endParaRPr lang="en-US" sz="1150">
                        <a:latin typeface="Arial" charset="0"/>
                        <a:ea typeface="Arial" charset="0"/>
                        <a:cs typeface="Arial"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E2EAEA"/>
                    </a:solidFill>
                  </a:tcPr>
                </a:tc>
                <a:tc>
                  <a:txBody>
                    <a:bodyPr/>
                    <a:lstStyle/>
                    <a:p>
                      <a:pPr marL="0" indent="0" algn="l">
                        <a:buNone/>
                      </a:pPr>
                      <a:r>
                        <a:rPr lang="en-US" sz="1150">
                          <a:solidFill>
                            <a:srgbClr val="1A1A1A"/>
                          </a:solidFill>
                          <a:latin typeface="Arial" pitchFamily="34" charset="0"/>
                          <a:ea typeface="Arial" pitchFamily="34" charset="-122"/>
                          <a:cs typeface="Arial" pitchFamily="34" charset="-120"/>
                        </a:rPr>
                        <a:t>Baja</a:t>
                      </a:r>
                      <a:endParaRPr lang="en-US" sz="1150">
                        <a:latin typeface="Arial" charset="0"/>
                        <a:ea typeface="Arial" charset="0"/>
                        <a:cs typeface="Arial"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E2EAEA"/>
                    </a:solidFill>
                  </a:tcPr>
                </a:tc>
                <a:tc>
                  <a:txBody>
                    <a:bodyPr/>
                    <a:lstStyle/>
                    <a:p>
                      <a:pPr marL="0" indent="0" algn="l">
                        <a:buNone/>
                      </a:pPr>
                      <a:r>
                        <a:rPr lang="en-US" sz="1150">
                          <a:solidFill>
                            <a:srgbClr val="1A1A1A"/>
                          </a:solidFill>
                          <a:latin typeface="Arial" pitchFamily="34" charset="0"/>
                          <a:ea typeface="Arial" pitchFamily="34" charset="-122"/>
                          <a:cs typeface="Arial" pitchFamily="34" charset="-120"/>
                        </a:rPr>
                        <a:t>Alta: hay que mantener todo sincronizado</a:t>
                      </a:r>
                      <a:endParaRPr lang="en-US" sz="1150">
                        <a:latin typeface="Arial" charset="0"/>
                        <a:ea typeface="Arial" charset="0"/>
                        <a:cs typeface="Arial"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E2EAEA"/>
                    </a:solidFill>
                  </a:tcPr>
                </a:tc>
                <a:extLst>
                  <a:ext uri="{0D108BD9-81ED-4DB2-BD59-A6C34878D82A}">
                    <a16:rowId xmlns:a16="http://schemas.microsoft.com/office/drawing/2014/main" val="10003"/>
                  </a:ext>
                </a:extLst>
              </a:tr>
              <a:tr h="457200">
                <a:tc>
                  <a:txBody>
                    <a:bodyPr/>
                    <a:lstStyle/>
                    <a:p>
                      <a:pPr marL="0" indent="0" algn="l">
                        <a:buNone/>
                      </a:pPr>
                      <a:r>
                        <a:rPr lang="en-US" sz="1150">
                          <a:solidFill>
                            <a:srgbClr val="1A1A1A"/>
                          </a:solidFill>
                          <a:latin typeface="Arial" pitchFamily="34" charset="0"/>
                          <a:ea typeface="Arial" pitchFamily="34" charset="-122"/>
                          <a:cs typeface="Arial" pitchFamily="34" charset="-120"/>
                        </a:rPr>
                        <a:t>Truco que usan</a:t>
                      </a:r>
                      <a:endParaRPr lang="en-US" sz="1150">
                        <a:latin typeface="Arial" charset="0"/>
                        <a:ea typeface="Arial" charset="0"/>
                        <a:cs typeface="Arial"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l">
                        <a:buNone/>
                      </a:pPr>
                      <a:r>
                        <a:rPr lang="en-US" sz="1150">
                          <a:solidFill>
                            <a:srgbClr val="1A1A1A"/>
                          </a:solidFill>
                          <a:latin typeface="Arial" pitchFamily="34" charset="0"/>
                          <a:ea typeface="Arial" pitchFamily="34" charset="-122"/>
                          <a:cs typeface="Arial" pitchFamily="34" charset="-120"/>
                        </a:rPr>
                        <a:t>—</a:t>
                      </a:r>
                      <a:endParaRPr lang="en-US" sz="1150">
                        <a:latin typeface="Arial" charset="0"/>
                        <a:ea typeface="Arial" charset="0"/>
                        <a:cs typeface="Arial"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marL="0" indent="0" algn="l">
                        <a:buNone/>
                      </a:pPr>
                      <a:r>
                        <a:rPr lang="en-US" sz="1150">
                          <a:solidFill>
                            <a:srgbClr val="1A1A1A"/>
                          </a:solidFill>
                          <a:latin typeface="Arial" pitchFamily="34" charset="0"/>
                          <a:ea typeface="Arial" pitchFamily="34" charset="-122"/>
                          <a:cs typeface="Arial" pitchFamily="34" charset="-120"/>
                        </a:rPr>
                        <a:t>Fragmentación: partir los datos en trozos (horizontal: por filas; vertical: por columnas; mixta: combinando ambas)</a:t>
                      </a:r>
                      <a:endParaRPr lang="en-US" sz="1150">
                        <a:latin typeface="Arial" charset="0"/>
                        <a:ea typeface="Arial" charset="0"/>
                        <a:cs typeface="Arial" charset="0"/>
                      </a:endParaRPr>
                    </a:p>
                  </a:txBody>
                  <a:tcPr marL="101600" marR="101600" marT="50800" marB="50800" anchor="ctr">
                    <a:lnL w="0" cap="flat" cmpd="sng" algn="ctr">
                      <a:noFill/>
                    </a:lnL>
                    <a:lnR w="0" cap="flat" cmpd="sng" algn="ctr">
                      <a:noFill/>
                    </a:lnR>
                    <a:lnT w="0" cap="flat" cmpd="sng" algn="ctr">
                      <a:noFill/>
                    </a:lnT>
                    <a:lnB w="0" cap="flat" cmpd="sng" algn="ctr">
                      <a:noFill/>
                    </a:lnB>
                    <a:solidFill>
                      <a:srgbClr val="FFFFFF"/>
                    </a:solidFill>
                  </a:tcPr>
                </a:tc>
                <a:extLst>
                  <a:ext uri="{0D108BD9-81ED-4DB2-BD59-A6C34878D82A}">
                    <a16:rowId xmlns:a16="http://schemas.microsoft.com/office/drawing/2014/main" val="10004"/>
                  </a:ext>
                </a:extLst>
              </a:tr>
            </a:tbl>
          </a:graphicData>
        </a:graphic>
      </p:graphicFrame>
      <p:sp>
        <p:nvSpPr>
          <p:cNvPr id="6" name="Text 3"/>
          <p:cNvSpPr txBox="1"/>
          <p:nvPr/>
        </p:nvSpPr>
        <p:spPr>
          <a:xfrm>
            <a:off x="457200" y="6510528"/>
            <a:ext cx="7315200" cy="274320"/>
          </a:xfrm>
          <a:prstGeom prst="rect">
            <a:avLst/>
          </a:prstGeom>
          <a:noFill/>
          <a:ln/>
        </p:spPr>
        <p:txBody>
          <a:bodyPr wrap="square" lIns="0" tIns="0" rIns="0" bIns="0" rtlCol="0" anchor="ctr"/>
          <a:lstStyle/>
          <a:p>
            <a:pPr marL="0" indent="0">
              <a:buNone/>
            </a:pPr>
            <a:r>
              <a:rPr lang="en-US" sz="900">
                <a:solidFill>
                  <a:srgbClr val="6B6B6B"/>
                </a:solidFill>
                <a:latin typeface="Arial" pitchFamily="34" charset="0"/>
                <a:ea typeface="Arial" pitchFamily="34" charset="-122"/>
                <a:cs typeface="Arial" pitchFamily="34" charset="-120"/>
              </a:rPr>
              <a:t>Cap. 1 · Centralizadas y distribuidas</a:t>
            </a:r>
            <a:endParaRPr lang="en-US" sz="900"/>
          </a:p>
        </p:txBody>
      </p:sp>
      <p:sp>
        <p:nvSpPr>
          <p:cNvPr id="7" name="Text 4"/>
          <p:cNvSpPr txBox="1"/>
          <p:nvPr/>
        </p:nvSpPr>
        <p:spPr>
          <a:xfrm>
            <a:off x="8074152" y="6510528"/>
            <a:ext cx="3657600" cy="274320"/>
          </a:xfrm>
          <a:prstGeom prst="rect">
            <a:avLst/>
          </a:prstGeom>
          <a:noFill/>
          <a:ln/>
        </p:spPr>
        <p:txBody>
          <a:bodyPr wrap="square" lIns="0" tIns="0" rIns="0" bIns="0" rtlCol="0" anchor="ctr"/>
          <a:lstStyle/>
          <a:p>
            <a:pPr marL="0" indent="0" algn="r">
              <a:buNone/>
            </a:pPr>
            <a:r>
              <a:rPr lang="en-US" sz="900">
                <a:solidFill>
                  <a:srgbClr val="6B6B6B"/>
                </a:solidFill>
                <a:latin typeface="Arial" pitchFamily="34" charset="0"/>
                <a:ea typeface="Arial" pitchFamily="34" charset="-122"/>
                <a:cs typeface="Arial" pitchFamily="34" charset="-120"/>
              </a:rPr>
              <a:t>Bases de Datos · DAM/DAW</a:t>
            </a:r>
            <a:endParaRPr lang="en-US" sz="9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DDDDDD"/>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789920" cy="292608"/>
          </a:xfrm>
          <a:prstGeom prst="rect">
            <a:avLst/>
          </a:prstGeom>
          <a:noFill/>
          <a:ln/>
        </p:spPr>
        <p:txBody>
          <a:bodyPr wrap="square" lIns="0" tIns="0" rIns="0" bIns="0" rtlCol="0" anchor="ctr"/>
          <a:lstStyle/>
          <a:p>
            <a:pPr marL="0" indent="0">
              <a:buNone/>
            </a:pPr>
            <a:r>
              <a:rPr lang="en-US" sz="1150" b="1" kern="0" spc="50">
                <a:solidFill>
                  <a:srgbClr val="028090"/>
                </a:solidFill>
                <a:latin typeface="Arial" pitchFamily="34" charset="0"/>
                <a:ea typeface="Arial" pitchFamily="34" charset="-122"/>
                <a:cs typeface="Arial" pitchFamily="34" charset="-120"/>
              </a:rPr>
              <a:t>EJERCICIO 1.4</a:t>
            </a:r>
            <a:endParaRPr lang="en-US" sz="1150"/>
          </a:p>
        </p:txBody>
      </p:sp>
      <p:sp>
        <p:nvSpPr>
          <p:cNvPr id="3" name="Text 1"/>
          <p:cNvSpPr txBox="1"/>
          <p:nvPr/>
        </p:nvSpPr>
        <p:spPr>
          <a:xfrm>
            <a:off x="548640" y="621792"/>
            <a:ext cx="10789920" cy="685800"/>
          </a:xfrm>
          <a:prstGeom prst="rect">
            <a:avLst/>
          </a:prstGeom>
          <a:noFill/>
          <a:ln/>
        </p:spPr>
        <p:txBody>
          <a:bodyPr wrap="square" lIns="0" tIns="0" rIns="0" bIns="0" rtlCol="0" anchor="ctr"/>
          <a:lstStyle/>
          <a:p>
            <a:pPr marL="0" indent="0">
              <a:buNone/>
            </a:pPr>
            <a:r>
              <a:rPr lang="en-US" sz="2400" b="1">
                <a:solidFill>
                  <a:srgbClr val="1A1A1A"/>
                </a:solidFill>
                <a:latin typeface="Arial" pitchFamily="34" charset="0"/>
                <a:ea typeface="Arial" pitchFamily="34" charset="-122"/>
                <a:cs typeface="Arial" pitchFamily="34" charset="-120"/>
              </a:rPr>
              <a:t>¿Centralizada o distribuida?</a:t>
            </a:r>
            <a:endParaRPr lang="en-US" sz="2400"/>
          </a:p>
        </p:txBody>
      </p:sp>
      <p:sp>
        <p:nvSpPr>
          <p:cNvPr id="4" name="Text 2"/>
          <p:cNvSpPr txBox="1"/>
          <p:nvPr/>
        </p:nvSpPr>
        <p:spPr>
          <a:xfrm>
            <a:off x="548640" y="1371600"/>
            <a:ext cx="10789920" cy="365760"/>
          </a:xfrm>
          <a:prstGeom prst="rect">
            <a:avLst/>
          </a:prstGeom>
          <a:noFill/>
          <a:ln/>
        </p:spPr>
        <p:txBody>
          <a:bodyPr wrap="square" lIns="0" tIns="0" rIns="0" bIns="0" rtlCol="0" anchor="ctr"/>
          <a:lstStyle/>
          <a:p>
            <a:pPr marL="0" indent="0">
              <a:buNone/>
            </a:pPr>
            <a:r>
              <a:rPr lang="en-US" sz="1200" i="1">
                <a:solidFill>
                  <a:srgbClr val="444444"/>
                </a:solidFill>
                <a:latin typeface="Arial" pitchFamily="34" charset="0"/>
                <a:ea typeface="Arial" pitchFamily="34" charset="-122"/>
                <a:cs typeface="Arial" pitchFamily="34" charset="-120"/>
              </a:rPr>
              <a:t>Decide qué tipo de base de datos usarías en cada caso y si le harías falta fragmentación.</a:t>
            </a:r>
            <a:endParaRPr lang="en-US" sz="1200"/>
          </a:p>
        </p:txBody>
      </p:sp>
      <p:sp>
        <p:nvSpPr>
          <p:cNvPr id="5" name="Shape 3"/>
          <p:cNvSpPr/>
          <p:nvPr/>
        </p:nvSpPr>
        <p:spPr>
          <a:xfrm>
            <a:off x="548640" y="1828800"/>
            <a:ext cx="329184" cy="329184"/>
          </a:xfrm>
          <a:prstGeom prst="ellipse">
            <a:avLst/>
          </a:prstGeom>
          <a:solidFill>
            <a:srgbClr val="00A896"/>
          </a:solidFill>
          <a:ln/>
        </p:spPr>
      </p:sp>
      <p:sp>
        <p:nvSpPr>
          <p:cNvPr id="6" name="Text 4"/>
          <p:cNvSpPr txBox="1"/>
          <p:nvPr/>
        </p:nvSpPr>
        <p:spPr>
          <a:xfrm>
            <a:off x="548640" y="1828800"/>
            <a:ext cx="329184" cy="329184"/>
          </a:xfrm>
          <a:prstGeom prst="rect">
            <a:avLst/>
          </a:prstGeom>
          <a:noFill/>
          <a:ln/>
        </p:spPr>
        <p:txBody>
          <a:bodyPr wrap="square" lIns="0" tIns="0" rIns="0" bIns="0" rtlCol="0" anchor="ctr"/>
          <a:lstStyle/>
          <a:p>
            <a:pPr marL="0" indent="0" algn="ctr">
              <a:buNone/>
            </a:pPr>
            <a:r>
              <a:rPr lang="en-US" sz="936" b="1">
                <a:solidFill>
                  <a:srgbClr val="FFFFFF"/>
                </a:solidFill>
                <a:latin typeface="Arial" pitchFamily="34" charset="0"/>
                <a:ea typeface="Arial" pitchFamily="34" charset="-122"/>
                <a:cs typeface="Arial" pitchFamily="34" charset="-120"/>
              </a:rPr>
              <a:t>1</a:t>
            </a:r>
            <a:endParaRPr lang="en-US" sz="936"/>
          </a:p>
        </p:txBody>
      </p:sp>
      <p:sp>
        <p:nvSpPr>
          <p:cNvPr id="7" name="Text 5"/>
          <p:cNvSpPr txBox="1"/>
          <p:nvPr/>
        </p:nvSpPr>
        <p:spPr>
          <a:xfrm>
            <a:off x="1051560" y="1792224"/>
            <a:ext cx="10287000" cy="502920"/>
          </a:xfrm>
          <a:prstGeom prst="rect">
            <a:avLst/>
          </a:prstGeom>
          <a:noFill/>
          <a:ln/>
        </p:spPr>
        <p:txBody>
          <a:bodyPr wrap="square" lIns="0" tIns="0" rIns="0" bIns="0" rtlCol="0" anchor="t"/>
          <a:lstStyle/>
          <a:p>
            <a:pPr marL="0" indent="0">
              <a:lnSpc>
                <a:spcPct val="115000"/>
              </a:lnSpc>
              <a:buNone/>
            </a:pPr>
            <a:r>
              <a:rPr lang="en-US" sz="1250">
                <a:solidFill>
                  <a:srgbClr val="1A1A1A"/>
                </a:solidFill>
                <a:latin typeface="Arial" pitchFamily="34" charset="0"/>
                <a:ea typeface="Arial" pitchFamily="34" charset="-122"/>
                <a:cs typeface="Arial" pitchFamily="34" charset="-120"/>
              </a:rPr>
              <a:t>Un cine de barrio con 3 salas gestiona sus reservas desde el único ordenador de la taquilla.</a:t>
            </a:r>
            <a:endParaRPr lang="en-US" sz="1250"/>
          </a:p>
        </p:txBody>
      </p:sp>
      <p:sp>
        <p:nvSpPr>
          <p:cNvPr id="8" name="Shape 6"/>
          <p:cNvSpPr/>
          <p:nvPr/>
        </p:nvSpPr>
        <p:spPr>
          <a:xfrm>
            <a:off x="548640" y="2286000"/>
            <a:ext cx="329184" cy="329184"/>
          </a:xfrm>
          <a:prstGeom prst="ellipse">
            <a:avLst/>
          </a:prstGeom>
          <a:solidFill>
            <a:srgbClr val="00A896"/>
          </a:solidFill>
          <a:ln/>
        </p:spPr>
      </p:sp>
      <p:sp>
        <p:nvSpPr>
          <p:cNvPr id="9" name="Text 7"/>
          <p:cNvSpPr txBox="1"/>
          <p:nvPr/>
        </p:nvSpPr>
        <p:spPr>
          <a:xfrm>
            <a:off x="548640" y="2286000"/>
            <a:ext cx="329184" cy="329184"/>
          </a:xfrm>
          <a:prstGeom prst="rect">
            <a:avLst/>
          </a:prstGeom>
          <a:noFill/>
          <a:ln/>
        </p:spPr>
        <p:txBody>
          <a:bodyPr wrap="square" lIns="0" tIns="0" rIns="0" bIns="0" rtlCol="0" anchor="ctr"/>
          <a:lstStyle/>
          <a:p>
            <a:pPr marL="0" indent="0" algn="ctr">
              <a:buNone/>
            </a:pPr>
            <a:r>
              <a:rPr lang="en-US" sz="936" b="1">
                <a:solidFill>
                  <a:srgbClr val="FFFFFF"/>
                </a:solidFill>
                <a:latin typeface="Arial" pitchFamily="34" charset="0"/>
                <a:ea typeface="Arial" pitchFamily="34" charset="-122"/>
                <a:cs typeface="Arial" pitchFamily="34" charset="-120"/>
              </a:rPr>
              <a:t>2</a:t>
            </a:r>
            <a:endParaRPr lang="en-US" sz="936"/>
          </a:p>
        </p:txBody>
      </p:sp>
      <p:sp>
        <p:nvSpPr>
          <p:cNvPr id="10" name="Text 8"/>
          <p:cNvSpPr txBox="1"/>
          <p:nvPr/>
        </p:nvSpPr>
        <p:spPr>
          <a:xfrm>
            <a:off x="1051560" y="2249424"/>
            <a:ext cx="10287000" cy="502920"/>
          </a:xfrm>
          <a:prstGeom prst="rect">
            <a:avLst/>
          </a:prstGeom>
          <a:noFill/>
          <a:ln/>
        </p:spPr>
        <p:txBody>
          <a:bodyPr wrap="square" lIns="0" tIns="0" rIns="0" bIns="0" rtlCol="0" anchor="t"/>
          <a:lstStyle/>
          <a:p>
            <a:pPr marL="0" indent="0">
              <a:lnSpc>
                <a:spcPct val="115000"/>
              </a:lnSpc>
              <a:buNone/>
            </a:pPr>
            <a:r>
              <a:rPr lang="en-US" sz="1250">
                <a:solidFill>
                  <a:srgbClr val="1A1A1A"/>
                </a:solidFill>
                <a:latin typeface="Arial" pitchFamily="34" charset="0"/>
                <a:ea typeface="Arial" pitchFamily="34" charset="-122"/>
                <a:cs typeface="Arial" pitchFamily="34" charset="-120"/>
              </a:rPr>
              <a:t>Una cadena de supermercados con 200 tiendas por todo el país necesita conocer el stock de cada tienda en tiempo real.</a:t>
            </a:r>
            <a:endParaRPr lang="en-US" sz="1250"/>
          </a:p>
        </p:txBody>
      </p:sp>
      <p:sp>
        <p:nvSpPr>
          <p:cNvPr id="11" name="Shape 9"/>
          <p:cNvSpPr/>
          <p:nvPr/>
        </p:nvSpPr>
        <p:spPr>
          <a:xfrm>
            <a:off x="548640" y="2798064"/>
            <a:ext cx="329184" cy="329184"/>
          </a:xfrm>
          <a:prstGeom prst="ellipse">
            <a:avLst/>
          </a:prstGeom>
          <a:solidFill>
            <a:srgbClr val="00A896"/>
          </a:solidFill>
          <a:ln/>
        </p:spPr>
      </p:sp>
      <p:sp>
        <p:nvSpPr>
          <p:cNvPr id="12" name="Text 10"/>
          <p:cNvSpPr txBox="1"/>
          <p:nvPr/>
        </p:nvSpPr>
        <p:spPr>
          <a:xfrm>
            <a:off x="548640" y="2798064"/>
            <a:ext cx="329184" cy="329184"/>
          </a:xfrm>
          <a:prstGeom prst="rect">
            <a:avLst/>
          </a:prstGeom>
          <a:noFill/>
          <a:ln/>
        </p:spPr>
        <p:txBody>
          <a:bodyPr wrap="square" lIns="0" tIns="0" rIns="0" bIns="0" rtlCol="0" anchor="ctr"/>
          <a:lstStyle/>
          <a:p>
            <a:pPr marL="0" indent="0" algn="ctr">
              <a:buNone/>
            </a:pPr>
            <a:r>
              <a:rPr lang="en-US" sz="936" b="1">
                <a:solidFill>
                  <a:srgbClr val="FFFFFF"/>
                </a:solidFill>
                <a:latin typeface="Arial" pitchFamily="34" charset="0"/>
                <a:ea typeface="Arial" pitchFamily="34" charset="-122"/>
                <a:cs typeface="Arial" pitchFamily="34" charset="-120"/>
              </a:rPr>
              <a:t>3</a:t>
            </a:r>
            <a:endParaRPr lang="en-US" sz="936"/>
          </a:p>
        </p:txBody>
      </p:sp>
      <p:sp>
        <p:nvSpPr>
          <p:cNvPr id="13" name="Text 11"/>
          <p:cNvSpPr txBox="1"/>
          <p:nvPr/>
        </p:nvSpPr>
        <p:spPr>
          <a:xfrm>
            <a:off x="1051560" y="2761488"/>
            <a:ext cx="10287000" cy="502920"/>
          </a:xfrm>
          <a:prstGeom prst="rect">
            <a:avLst/>
          </a:prstGeom>
          <a:noFill/>
          <a:ln/>
        </p:spPr>
        <p:txBody>
          <a:bodyPr wrap="square" lIns="0" tIns="0" rIns="0" bIns="0" rtlCol="0" anchor="t"/>
          <a:lstStyle/>
          <a:p>
            <a:pPr marL="0" indent="0">
              <a:lnSpc>
                <a:spcPct val="115000"/>
              </a:lnSpc>
              <a:buNone/>
            </a:pPr>
            <a:r>
              <a:rPr lang="en-US" sz="1250">
                <a:solidFill>
                  <a:srgbClr val="1A1A1A"/>
                </a:solidFill>
                <a:latin typeface="Arial" pitchFamily="34" charset="0"/>
                <a:ea typeface="Arial" pitchFamily="34" charset="-122"/>
                <a:cs typeface="Arial" pitchFamily="34" charset="-120"/>
              </a:rPr>
              <a:t>La ferretería de tu barrio guarda su inventario en un ordenador que solo usa la persona de caja.</a:t>
            </a:r>
            <a:endParaRPr lang="en-US" sz="1250"/>
          </a:p>
        </p:txBody>
      </p:sp>
      <p:sp>
        <p:nvSpPr>
          <p:cNvPr id="14" name="Shape 12"/>
          <p:cNvSpPr/>
          <p:nvPr/>
        </p:nvSpPr>
        <p:spPr>
          <a:xfrm>
            <a:off x="548640" y="3255264"/>
            <a:ext cx="329184" cy="329184"/>
          </a:xfrm>
          <a:prstGeom prst="ellipse">
            <a:avLst/>
          </a:prstGeom>
          <a:solidFill>
            <a:srgbClr val="00A896"/>
          </a:solidFill>
          <a:ln/>
        </p:spPr>
      </p:sp>
      <p:sp>
        <p:nvSpPr>
          <p:cNvPr id="15" name="Text 13"/>
          <p:cNvSpPr txBox="1"/>
          <p:nvPr/>
        </p:nvSpPr>
        <p:spPr>
          <a:xfrm>
            <a:off x="548640" y="3255264"/>
            <a:ext cx="329184" cy="329184"/>
          </a:xfrm>
          <a:prstGeom prst="rect">
            <a:avLst/>
          </a:prstGeom>
          <a:noFill/>
          <a:ln/>
        </p:spPr>
        <p:txBody>
          <a:bodyPr wrap="square" lIns="0" tIns="0" rIns="0" bIns="0" rtlCol="0" anchor="ctr"/>
          <a:lstStyle/>
          <a:p>
            <a:pPr marL="0" indent="0" algn="ctr">
              <a:buNone/>
            </a:pPr>
            <a:r>
              <a:rPr lang="en-US" sz="936" b="1">
                <a:solidFill>
                  <a:srgbClr val="FFFFFF"/>
                </a:solidFill>
                <a:latin typeface="Arial" pitchFamily="34" charset="0"/>
                <a:ea typeface="Arial" pitchFamily="34" charset="-122"/>
                <a:cs typeface="Arial" pitchFamily="34" charset="-120"/>
              </a:rPr>
              <a:t>4</a:t>
            </a:r>
            <a:endParaRPr lang="en-US" sz="936"/>
          </a:p>
        </p:txBody>
      </p:sp>
      <p:sp>
        <p:nvSpPr>
          <p:cNvPr id="16" name="Text 14"/>
          <p:cNvSpPr txBox="1"/>
          <p:nvPr/>
        </p:nvSpPr>
        <p:spPr>
          <a:xfrm>
            <a:off x="1051560" y="3218688"/>
            <a:ext cx="10287000" cy="502920"/>
          </a:xfrm>
          <a:prstGeom prst="rect">
            <a:avLst/>
          </a:prstGeom>
          <a:noFill/>
          <a:ln/>
        </p:spPr>
        <p:txBody>
          <a:bodyPr wrap="square" lIns="0" tIns="0" rIns="0" bIns="0" rtlCol="0" anchor="t"/>
          <a:lstStyle/>
          <a:p>
            <a:pPr marL="0" indent="0">
              <a:lnSpc>
                <a:spcPct val="115000"/>
              </a:lnSpc>
              <a:buNone/>
            </a:pPr>
            <a:r>
              <a:rPr lang="en-US" sz="1250">
                <a:solidFill>
                  <a:srgbClr val="1A1A1A"/>
                </a:solidFill>
                <a:latin typeface="Arial" pitchFamily="34" charset="0"/>
                <a:ea typeface="Arial" pitchFamily="34" charset="-122"/>
                <a:cs typeface="Arial" pitchFamily="34" charset="-120"/>
              </a:rPr>
              <a:t>Una red social con usuarios repartidos por todo el mundo necesita que las publicaciones se vean casi al instante en cualquier país.</a:t>
            </a:r>
            <a:endParaRPr lang="en-US" sz="1250"/>
          </a:p>
        </p:txBody>
      </p:sp>
      <p:sp>
        <p:nvSpPr>
          <p:cNvPr id="17" name="Shape 15"/>
          <p:cNvSpPr/>
          <p:nvPr/>
        </p:nvSpPr>
        <p:spPr>
          <a:xfrm>
            <a:off x="548640" y="3904488"/>
            <a:ext cx="10789920" cy="2359152"/>
          </a:xfrm>
          <a:prstGeom prst="roundRect">
            <a:avLst>
              <a:gd name="adj" fmla="val 3101"/>
            </a:avLst>
          </a:prstGeom>
          <a:solidFill>
            <a:srgbClr val="E2EAEA"/>
          </a:solidFill>
          <a:ln/>
        </p:spPr>
      </p:sp>
      <p:sp>
        <p:nvSpPr>
          <p:cNvPr id="18" name="Text 16"/>
          <p:cNvSpPr txBox="1"/>
          <p:nvPr/>
        </p:nvSpPr>
        <p:spPr>
          <a:xfrm>
            <a:off x="777240" y="4014216"/>
            <a:ext cx="3657600" cy="274320"/>
          </a:xfrm>
          <a:prstGeom prst="rect">
            <a:avLst/>
          </a:prstGeom>
          <a:noFill/>
          <a:ln/>
        </p:spPr>
        <p:txBody>
          <a:bodyPr wrap="square" lIns="0" tIns="0" rIns="0" bIns="0" rtlCol="0" anchor="ctr"/>
          <a:lstStyle/>
          <a:p>
            <a:pPr marL="0" indent="0">
              <a:buNone/>
            </a:pPr>
            <a:r>
              <a:rPr lang="en-US" sz="1050" b="1" kern="0" spc="100">
                <a:solidFill>
                  <a:srgbClr val="028090"/>
                </a:solidFill>
                <a:latin typeface="Arial" pitchFamily="34" charset="0"/>
                <a:ea typeface="Arial" pitchFamily="34" charset="-122"/>
                <a:cs typeface="Arial" pitchFamily="34" charset="-120"/>
              </a:rPr>
              <a:t>SOLUCIÓN</a:t>
            </a:r>
            <a:endParaRPr lang="en-US" sz="1050"/>
          </a:p>
        </p:txBody>
      </p:sp>
      <p:sp>
        <p:nvSpPr>
          <p:cNvPr id="19" name="Text 17"/>
          <p:cNvSpPr txBox="1"/>
          <p:nvPr/>
        </p:nvSpPr>
        <p:spPr>
          <a:xfrm>
            <a:off x="777240" y="4315968"/>
            <a:ext cx="10332720" cy="1856232"/>
          </a:xfrm>
          <a:prstGeom prst="rect">
            <a:avLst/>
          </a:prstGeom>
          <a:noFill/>
          <a:ln/>
        </p:spPr>
        <p:txBody>
          <a:bodyPr wrap="square" lIns="0" tIns="0" rIns="0" bIns="0" rtlCol="0" anchor="t"/>
          <a:lstStyle/>
          <a:p>
            <a:pPr marL="0" indent="0">
              <a:lnSpc>
                <a:spcPct val="120000"/>
              </a:lnSpc>
              <a:spcAft>
                <a:spcPts val="600"/>
              </a:spcAft>
              <a:buNone/>
            </a:pPr>
            <a:r>
              <a:rPr lang="en-US" sz="1150">
                <a:solidFill>
                  <a:srgbClr val="444444"/>
                </a:solidFill>
                <a:latin typeface="Arial" pitchFamily="34" charset="0"/>
                <a:ea typeface="Arial" pitchFamily="34" charset="-122"/>
                <a:cs typeface="Arial" pitchFamily="34" charset="-120"/>
              </a:rPr>
              <a:t>1. Centralizada: un único punto de acceso es más que suficiente para ese volumen.</a:t>
            </a:r>
            <a:endParaRPr lang="en-US" sz="1150"/>
          </a:p>
          <a:p>
            <a:pPr marL="0" indent="0">
              <a:lnSpc>
                <a:spcPct val="120000"/>
              </a:lnSpc>
              <a:spcAft>
                <a:spcPts val="600"/>
              </a:spcAft>
              <a:buNone/>
            </a:pPr>
            <a:r>
              <a:rPr lang="en-US" sz="1150">
                <a:solidFill>
                  <a:srgbClr val="444444"/>
                </a:solidFill>
                <a:latin typeface="Arial" pitchFamily="34" charset="0"/>
                <a:ea typeface="Arial" pitchFamily="34" charset="-122"/>
                <a:cs typeface="Arial" pitchFamily="34" charset="-120"/>
              </a:rPr>
              <a:t>2. Distribuida, con fragmentación horizontal: cada tienda puede tener sus propios datos de stock local, sincronizados entre nodos.</a:t>
            </a:r>
            <a:endParaRPr lang="en-US" sz="1150"/>
          </a:p>
          <a:p>
            <a:pPr marL="0" indent="0">
              <a:lnSpc>
                <a:spcPct val="120000"/>
              </a:lnSpc>
              <a:spcAft>
                <a:spcPts val="600"/>
              </a:spcAft>
              <a:buNone/>
            </a:pPr>
            <a:r>
              <a:rPr lang="en-US" sz="1150">
                <a:solidFill>
                  <a:srgbClr val="444444"/>
                </a:solidFill>
                <a:latin typeface="Arial" pitchFamily="34" charset="0"/>
                <a:ea typeface="Arial" pitchFamily="34" charset="-122"/>
                <a:cs typeface="Arial" pitchFamily="34" charset="-120"/>
              </a:rPr>
              <a:t>3. Centralizada: mismo caso que el cine, no hay necesidad de repartir los datos.</a:t>
            </a:r>
            <a:endParaRPr lang="en-US" sz="1150"/>
          </a:p>
          <a:p>
            <a:pPr marL="0" indent="0">
              <a:lnSpc>
                <a:spcPct val="120000"/>
              </a:lnSpc>
              <a:spcAft>
                <a:spcPts val="600"/>
              </a:spcAft>
              <a:buNone/>
            </a:pPr>
            <a:r>
              <a:rPr lang="en-US" sz="1150">
                <a:solidFill>
                  <a:srgbClr val="444444"/>
                </a:solidFill>
                <a:latin typeface="Arial" pitchFamily="34" charset="0"/>
                <a:ea typeface="Arial" pitchFamily="34" charset="-122"/>
                <a:cs typeface="Arial" pitchFamily="34" charset="-120"/>
              </a:rPr>
              <a:t>4. Distribuida: hace falta tener copias de los datos cerca de cada zona geográfica para que vaya rápido en todo el mundo.</a:t>
            </a:r>
            <a:endParaRPr lang="en-US" sz="1150"/>
          </a:p>
        </p:txBody>
      </p:sp>
      <p:sp>
        <p:nvSpPr>
          <p:cNvPr id="20" name="Text 18"/>
          <p:cNvSpPr txBox="1"/>
          <p:nvPr/>
        </p:nvSpPr>
        <p:spPr>
          <a:xfrm>
            <a:off x="457200" y="6510528"/>
            <a:ext cx="7315200" cy="274320"/>
          </a:xfrm>
          <a:prstGeom prst="rect">
            <a:avLst/>
          </a:prstGeom>
          <a:noFill/>
          <a:ln/>
        </p:spPr>
        <p:txBody>
          <a:bodyPr wrap="square" lIns="0" tIns="0" rIns="0" bIns="0" rtlCol="0" anchor="ctr"/>
          <a:lstStyle/>
          <a:p>
            <a:pPr marL="0" indent="0">
              <a:buNone/>
            </a:pPr>
            <a:r>
              <a:rPr lang="en-US" sz="900">
                <a:solidFill>
                  <a:srgbClr val="6B6B6B"/>
                </a:solidFill>
                <a:latin typeface="Arial" pitchFamily="34" charset="0"/>
                <a:ea typeface="Arial" pitchFamily="34" charset="-122"/>
                <a:cs typeface="Arial" pitchFamily="34" charset="-120"/>
              </a:rPr>
              <a:t>Cap. 1 · Ejercicio: centralizada o distribuida</a:t>
            </a:r>
            <a:endParaRPr lang="en-US" sz="900"/>
          </a:p>
        </p:txBody>
      </p:sp>
      <p:sp>
        <p:nvSpPr>
          <p:cNvPr id="21" name="Text 19"/>
          <p:cNvSpPr txBox="1"/>
          <p:nvPr/>
        </p:nvSpPr>
        <p:spPr>
          <a:xfrm>
            <a:off x="8074152" y="6510528"/>
            <a:ext cx="3657600" cy="274320"/>
          </a:xfrm>
          <a:prstGeom prst="rect">
            <a:avLst/>
          </a:prstGeom>
          <a:noFill/>
          <a:ln/>
        </p:spPr>
        <p:txBody>
          <a:bodyPr wrap="square" lIns="0" tIns="0" rIns="0" bIns="0" rtlCol="0" anchor="ctr"/>
          <a:lstStyle/>
          <a:p>
            <a:pPr marL="0" indent="0" algn="r">
              <a:buNone/>
            </a:pPr>
            <a:r>
              <a:rPr lang="en-US" sz="900">
                <a:solidFill>
                  <a:srgbClr val="6B6B6B"/>
                </a:solidFill>
                <a:latin typeface="Arial" pitchFamily="34" charset="0"/>
                <a:ea typeface="Arial" pitchFamily="34" charset="-122"/>
                <a:cs typeface="Arial" pitchFamily="34" charset="-120"/>
              </a:rPr>
              <a:t>Bases de Datos · DAM/DAW</a:t>
            </a:r>
            <a:endParaRPr lang="en-US" sz="9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DDDDDD"/>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789920" cy="292608"/>
          </a:xfrm>
          <a:prstGeom prst="rect">
            <a:avLst/>
          </a:prstGeom>
          <a:noFill/>
          <a:ln/>
        </p:spPr>
        <p:txBody>
          <a:bodyPr wrap="square" lIns="0" tIns="0" rIns="0" bIns="0" rtlCol="0" anchor="ctr"/>
          <a:lstStyle/>
          <a:p>
            <a:pPr marL="0" indent="0">
              <a:buNone/>
            </a:pPr>
            <a:r>
              <a:rPr lang="en-US" sz="1150" b="1" kern="0" spc="50">
                <a:solidFill>
                  <a:srgbClr val="028090"/>
                </a:solidFill>
                <a:latin typeface="Arial" pitchFamily="34" charset="0"/>
                <a:ea typeface="Arial" pitchFamily="34" charset="-122"/>
                <a:cs typeface="Arial" pitchFamily="34" charset="-120"/>
              </a:rPr>
              <a:t>1.5 · EL PROGRAMA QUE LLEVA LA BASE DE DATOS</a:t>
            </a:r>
            <a:endParaRPr lang="en-US" sz="1150"/>
          </a:p>
        </p:txBody>
      </p:sp>
      <p:sp>
        <p:nvSpPr>
          <p:cNvPr id="3" name="Text 1"/>
          <p:cNvSpPr txBox="1"/>
          <p:nvPr/>
        </p:nvSpPr>
        <p:spPr>
          <a:xfrm>
            <a:off x="548640" y="621792"/>
            <a:ext cx="10789920" cy="685800"/>
          </a:xfrm>
          <a:prstGeom prst="rect">
            <a:avLst/>
          </a:prstGeom>
          <a:noFill/>
          <a:ln/>
        </p:spPr>
        <p:txBody>
          <a:bodyPr wrap="square" lIns="0" tIns="0" rIns="0" bIns="0" rtlCol="0" anchor="ctr"/>
          <a:lstStyle/>
          <a:p>
            <a:pPr marL="0" indent="0">
              <a:buNone/>
            </a:pPr>
            <a:r>
              <a:rPr lang="en-US" sz="2400" b="1">
                <a:solidFill>
                  <a:srgbClr val="1A1A1A"/>
                </a:solidFill>
                <a:latin typeface="Arial" pitchFamily="34" charset="0"/>
                <a:ea typeface="Arial" pitchFamily="34" charset="-122"/>
                <a:cs typeface="Arial" pitchFamily="34" charset="-120"/>
              </a:rPr>
              <a:t>Sistemas gestores de bases de datos (SGBD)</a:t>
            </a:r>
            <a:endParaRPr lang="en-US" sz="2400"/>
          </a:p>
        </p:txBody>
      </p:sp>
      <p:sp>
        <p:nvSpPr>
          <p:cNvPr id="4" name="Text 2"/>
          <p:cNvSpPr txBox="1"/>
          <p:nvPr/>
        </p:nvSpPr>
        <p:spPr>
          <a:xfrm>
            <a:off x="548640" y="1417320"/>
            <a:ext cx="10789920" cy="457200"/>
          </a:xfrm>
          <a:prstGeom prst="rect">
            <a:avLst/>
          </a:prstGeom>
          <a:noFill/>
          <a:ln/>
        </p:spPr>
        <p:txBody>
          <a:bodyPr wrap="square" lIns="0" tIns="0" rIns="0" bIns="0" rtlCol="0" anchor="ctr"/>
          <a:lstStyle/>
          <a:p>
            <a:pPr marL="0" indent="0">
              <a:lnSpc>
                <a:spcPct val="120000"/>
              </a:lnSpc>
              <a:buNone/>
            </a:pPr>
            <a:r>
              <a:rPr lang="en-US" sz="1250" i="1">
                <a:solidFill>
                  <a:srgbClr val="444444"/>
                </a:solidFill>
                <a:latin typeface="Arial" pitchFamily="34" charset="0"/>
                <a:ea typeface="Arial" pitchFamily="34" charset="-122"/>
                <a:cs typeface="Arial" pitchFamily="34" charset="-120"/>
              </a:rPr>
              <a:t>El SGBD es el software que hace de intermediario entre tú (o una app) y los datos guardados. Tú le pides algo y él se encarga de todo el trabajo sucio.</a:t>
            </a:r>
            <a:endParaRPr lang="en-US" sz="1250"/>
          </a:p>
        </p:txBody>
      </p:sp>
      <p:sp>
        <p:nvSpPr>
          <p:cNvPr id="5" name="Text 3"/>
          <p:cNvSpPr txBox="1"/>
          <p:nvPr/>
        </p:nvSpPr>
        <p:spPr>
          <a:xfrm>
            <a:off x="548640" y="1920240"/>
            <a:ext cx="10789920" cy="4389120"/>
          </a:xfrm>
          <a:prstGeom prst="rect">
            <a:avLst/>
          </a:prstGeom>
          <a:noFill/>
          <a:ln/>
        </p:spPr>
        <p:txBody>
          <a:bodyPr wrap="square" lIns="0" tIns="0" rIns="0" bIns="0" rtlCol="0" anchor="t"/>
          <a:lstStyle/>
          <a:p>
            <a:pPr marL="342900" indent="-342900">
              <a:lnSpc>
                <a:spcPct val="125000"/>
              </a:lnSpc>
              <a:spcAft>
                <a:spcPts val="1000"/>
              </a:spcAft>
              <a:buSzPct val="100000"/>
              <a:buChar char="•"/>
            </a:pPr>
            <a:r>
              <a:rPr lang="en-US" sz="1350">
                <a:solidFill>
                  <a:srgbClr val="1A1A1A"/>
                </a:solidFill>
                <a:latin typeface="Arial" pitchFamily="34" charset="0"/>
                <a:ea typeface="Arial" pitchFamily="34" charset="-122"/>
                <a:cs typeface="Arial" pitchFamily="34" charset="-120"/>
              </a:rPr>
              <a:t>Sus trabajos principales: definir cómo se organizan los datos, dejarte consultarlos y modificarlos, controlar quién puede tocar qué, y asegurar que nunca se corrompan aunque falle la luz a mitad de una operación.</a:t>
            </a:r>
            <a:endParaRPr lang="en-US" sz="1350"/>
          </a:p>
          <a:p>
            <a:pPr marL="342900" indent="-342900">
              <a:lnSpc>
                <a:spcPct val="125000"/>
              </a:lnSpc>
              <a:spcAft>
                <a:spcPts val="1000"/>
              </a:spcAft>
              <a:buSzPct val="100000"/>
              <a:buChar char="•"/>
            </a:pPr>
            <a:r>
              <a:rPr lang="en-US" sz="1350">
                <a:solidFill>
                  <a:srgbClr val="1A1A1A"/>
                </a:solidFill>
                <a:latin typeface="Arial" pitchFamily="34" charset="0"/>
                <a:ea typeface="Arial" pitchFamily="34" charset="-122"/>
                <a:cs typeface="Arial" pitchFamily="34" charset="-120"/>
              </a:rPr>
              <a:t>Por dentro tiene: un motor de almacenamiento, un traductor de consultas (que convierte tu SQL en pasos que la máquina puede ejecutar), un gestor de transacciones y un catálogo con toda la información de la propia base de datos (metadatos).</a:t>
            </a:r>
            <a:endParaRPr lang="en-US" sz="1350"/>
          </a:p>
          <a:p>
            <a:pPr marL="342900" indent="-342900">
              <a:lnSpc>
                <a:spcPct val="125000"/>
              </a:lnSpc>
              <a:spcAft>
                <a:spcPts val="1000"/>
              </a:spcAft>
              <a:buSzPct val="100000"/>
              <a:buChar char="•"/>
            </a:pPr>
            <a:r>
              <a:rPr lang="en-US" sz="1350">
                <a:solidFill>
                  <a:srgbClr val="1A1A1A"/>
                </a:solidFill>
                <a:latin typeface="Arial" pitchFamily="34" charset="0"/>
                <a:ea typeface="Arial" pitchFamily="34" charset="-122"/>
                <a:cs typeface="Arial" pitchFamily="34" charset="-120"/>
              </a:rPr>
              <a:t>Los hay relacionales (MySQL, PostgreSQL, Oracle, SQL Server), no relacionales (MongoDB, Redis, Cassandra) y orientados a objetos.</a:t>
            </a:r>
            <a:endParaRPr lang="en-US" sz="1350"/>
          </a:p>
          <a:p>
            <a:pPr marL="342900" indent="-342900">
              <a:lnSpc>
                <a:spcPct val="125000"/>
              </a:lnSpc>
              <a:spcAft>
                <a:spcPts val="1000"/>
              </a:spcAft>
              <a:buSzPct val="100000"/>
              <a:buChar char="•"/>
            </a:pPr>
            <a:r>
              <a:rPr lang="en-US" sz="1350">
                <a:solidFill>
                  <a:srgbClr val="1A1A1A"/>
                </a:solidFill>
                <a:latin typeface="Arial" pitchFamily="34" charset="0"/>
                <a:ea typeface="Arial" pitchFamily="34" charset="-122"/>
                <a:cs typeface="Arial" pitchFamily="34" charset="-120"/>
              </a:rPr>
              <a:t>Durante el módulo trabajaremos sobre todo con un SGBD relacional gratuito, y dejaremos las alternativas NoSQL para el último bloque.</a:t>
            </a:r>
            <a:endParaRPr lang="en-US" sz="1350"/>
          </a:p>
        </p:txBody>
      </p:sp>
      <p:sp>
        <p:nvSpPr>
          <p:cNvPr id="6" name="Text 4"/>
          <p:cNvSpPr txBox="1"/>
          <p:nvPr/>
        </p:nvSpPr>
        <p:spPr>
          <a:xfrm>
            <a:off x="457200" y="6510528"/>
            <a:ext cx="7315200" cy="274320"/>
          </a:xfrm>
          <a:prstGeom prst="rect">
            <a:avLst/>
          </a:prstGeom>
          <a:noFill/>
          <a:ln/>
        </p:spPr>
        <p:txBody>
          <a:bodyPr wrap="square" lIns="0" tIns="0" rIns="0" bIns="0" rtlCol="0" anchor="ctr"/>
          <a:lstStyle/>
          <a:p>
            <a:pPr marL="0" indent="0">
              <a:buNone/>
            </a:pPr>
            <a:r>
              <a:rPr lang="en-US" sz="900">
                <a:solidFill>
                  <a:srgbClr val="6B6B6B"/>
                </a:solidFill>
                <a:latin typeface="Arial" pitchFamily="34" charset="0"/>
                <a:ea typeface="Arial" pitchFamily="34" charset="-122"/>
                <a:cs typeface="Arial" pitchFamily="34" charset="-120"/>
              </a:rPr>
              <a:t>Cap. 1 · SGBD</a:t>
            </a:r>
            <a:endParaRPr lang="en-US" sz="900"/>
          </a:p>
        </p:txBody>
      </p:sp>
      <p:sp>
        <p:nvSpPr>
          <p:cNvPr id="7" name="Text 5"/>
          <p:cNvSpPr txBox="1"/>
          <p:nvPr/>
        </p:nvSpPr>
        <p:spPr>
          <a:xfrm>
            <a:off x="8074152" y="6510528"/>
            <a:ext cx="3657600" cy="274320"/>
          </a:xfrm>
          <a:prstGeom prst="rect">
            <a:avLst/>
          </a:prstGeom>
          <a:noFill/>
          <a:ln/>
        </p:spPr>
        <p:txBody>
          <a:bodyPr wrap="square" lIns="0" tIns="0" rIns="0" bIns="0" rtlCol="0" anchor="ctr"/>
          <a:lstStyle/>
          <a:p>
            <a:pPr marL="0" indent="0" algn="r">
              <a:buNone/>
            </a:pPr>
            <a:r>
              <a:rPr lang="en-US" sz="900">
                <a:solidFill>
                  <a:srgbClr val="6B6B6B"/>
                </a:solidFill>
                <a:latin typeface="Arial" pitchFamily="34" charset="0"/>
                <a:ea typeface="Arial" pitchFamily="34" charset="-122"/>
                <a:cs typeface="Arial" pitchFamily="34" charset="-120"/>
              </a:rPr>
              <a:t>Bases de Datos · DAM/DAW</a:t>
            </a:r>
            <a:endParaRPr lang="en-US" sz="9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DDDDDD"/>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789920" cy="292608"/>
          </a:xfrm>
          <a:prstGeom prst="rect">
            <a:avLst/>
          </a:prstGeom>
          <a:noFill/>
          <a:ln/>
        </p:spPr>
        <p:txBody>
          <a:bodyPr wrap="square" lIns="0" tIns="0" rIns="0" bIns="0" rtlCol="0" anchor="ctr"/>
          <a:lstStyle/>
          <a:p>
            <a:pPr marL="0" indent="0">
              <a:buNone/>
            </a:pPr>
            <a:r>
              <a:rPr lang="en-US" sz="1150" b="1" kern="0" spc="50">
                <a:solidFill>
                  <a:srgbClr val="028090"/>
                </a:solidFill>
                <a:latin typeface="Arial" pitchFamily="34" charset="0"/>
                <a:ea typeface="Arial" pitchFamily="34" charset="-122"/>
                <a:cs typeface="Arial" pitchFamily="34" charset="-120"/>
              </a:rPr>
              <a:t>EJERCICIO 1.5</a:t>
            </a:r>
            <a:endParaRPr lang="en-US" sz="1150"/>
          </a:p>
        </p:txBody>
      </p:sp>
      <p:sp>
        <p:nvSpPr>
          <p:cNvPr id="3" name="Text 1"/>
          <p:cNvSpPr txBox="1"/>
          <p:nvPr/>
        </p:nvSpPr>
        <p:spPr>
          <a:xfrm>
            <a:off x="548640" y="621792"/>
            <a:ext cx="10789920" cy="685800"/>
          </a:xfrm>
          <a:prstGeom prst="rect">
            <a:avLst/>
          </a:prstGeom>
          <a:noFill/>
          <a:ln/>
        </p:spPr>
        <p:txBody>
          <a:bodyPr wrap="square" lIns="0" tIns="0" rIns="0" bIns="0" rtlCol="0" anchor="ctr"/>
          <a:lstStyle/>
          <a:p>
            <a:pPr marL="0" indent="0">
              <a:buNone/>
            </a:pPr>
            <a:r>
              <a:rPr lang="en-US" sz="2400" b="1">
                <a:solidFill>
                  <a:srgbClr val="1A1A1A"/>
                </a:solidFill>
                <a:latin typeface="Arial" pitchFamily="34" charset="0"/>
                <a:ea typeface="Arial" pitchFamily="34" charset="-122"/>
                <a:cs typeface="Arial" pitchFamily="34" charset="-120"/>
              </a:rPr>
              <a:t>Relaciona cada SGBD con su tipo</a:t>
            </a:r>
            <a:endParaRPr lang="en-US" sz="2400"/>
          </a:p>
        </p:txBody>
      </p:sp>
      <p:sp>
        <p:nvSpPr>
          <p:cNvPr id="4" name="Text 2"/>
          <p:cNvSpPr txBox="1"/>
          <p:nvPr/>
        </p:nvSpPr>
        <p:spPr>
          <a:xfrm>
            <a:off x="548640" y="1371600"/>
            <a:ext cx="10789920" cy="365760"/>
          </a:xfrm>
          <a:prstGeom prst="rect">
            <a:avLst/>
          </a:prstGeom>
          <a:noFill/>
          <a:ln/>
        </p:spPr>
        <p:txBody>
          <a:bodyPr wrap="square" lIns="0" tIns="0" rIns="0" bIns="0" rtlCol="0" anchor="ctr"/>
          <a:lstStyle/>
          <a:p>
            <a:pPr marL="0" indent="0">
              <a:buNone/>
            </a:pPr>
            <a:r>
              <a:rPr lang="en-US" sz="1200" i="1">
                <a:solidFill>
                  <a:srgbClr val="444444"/>
                </a:solidFill>
                <a:latin typeface="Arial" pitchFamily="34" charset="0"/>
                <a:ea typeface="Arial" pitchFamily="34" charset="-122"/>
                <a:cs typeface="Arial" pitchFamily="34" charset="-120"/>
              </a:rPr>
              <a:t>¿Sabrías decir si cada uno de estos SGBD es relacional o no relacional, solo por lo que hemos visto hasta ahora?</a:t>
            </a:r>
            <a:endParaRPr lang="en-US" sz="1200"/>
          </a:p>
        </p:txBody>
      </p:sp>
      <p:sp>
        <p:nvSpPr>
          <p:cNvPr id="5" name="Shape 3"/>
          <p:cNvSpPr/>
          <p:nvPr/>
        </p:nvSpPr>
        <p:spPr>
          <a:xfrm>
            <a:off x="548640" y="1828800"/>
            <a:ext cx="329184" cy="329184"/>
          </a:xfrm>
          <a:prstGeom prst="ellipse">
            <a:avLst/>
          </a:prstGeom>
          <a:solidFill>
            <a:srgbClr val="00A896"/>
          </a:solidFill>
          <a:ln/>
        </p:spPr>
      </p:sp>
      <p:sp>
        <p:nvSpPr>
          <p:cNvPr id="6" name="Text 4"/>
          <p:cNvSpPr txBox="1"/>
          <p:nvPr/>
        </p:nvSpPr>
        <p:spPr>
          <a:xfrm>
            <a:off x="548640" y="1828800"/>
            <a:ext cx="329184" cy="329184"/>
          </a:xfrm>
          <a:prstGeom prst="rect">
            <a:avLst/>
          </a:prstGeom>
          <a:noFill/>
          <a:ln/>
        </p:spPr>
        <p:txBody>
          <a:bodyPr wrap="square" lIns="0" tIns="0" rIns="0" bIns="0" rtlCol="0" anchor="ctr"/>
          <a:lstStyle/>
          <a:p>
            <a:pPr marL="0" indent="0" algn="ctr">
              <a:buNone/>
            </a:pPr>
            <a:r>
              <a:rPr lang="en-US" sz="936" b="1">
                <a:solidFill>
                  <a:srgbClr val="FFFFFF"/>
                </a:solidFill>
                <a:latin typeface="Arial" pitchFamily="34" charset="0"/>
                <a:ea typeface="Arial" pitchFamily="34" charset="-122"/>
                <a:cs typeface="Arial" pitchFamily="34" charset="-120"/>
              </a:rPr>
              <a:t>1</a:t>
            </a:r>
            <a:endParaRPr lang="en-US" sz="936"/>
          </a:p>
        </p:txBody>
      </p:sp>
      <p:sp>
        <p:nvSpPr>
          <p:cNvPr id="7" name="Text 5"/>
          <p:cNvSpPr txBox="1"/>
          <p:nvPr/>
        </p:nvSpPr>
        <p:spPr>
          <a:xfrm>
            <a:off x="1051560" y="1792224"/>
            <a:ext cx="10287000" cy="502920"/>
          </a:xfrm>
          <a:prstGeom prst="rect">
            <a:avLst/>
          </a:prstGeom>
          <a:noFill/>
          <a:ln/>
        </p:spPr>
        <p:txBody>
          <a:bodyPr wrap="square" lIns="0" tIns="0" rIns="0" bIns="0" rtlCol="0" anchor="t"/>
          <a:lstStyle/>
          <a:p>
            <a:pPr marL="0" indent="0">
              <a:lnSpc>
                <a:spcPct val="115000"/>
              </a:lnSpc>
              <a:buNone/>
            </a:pPr>
            <a:r>
              <a:rPr lang="en-US" sz="1250">
                <a:solidFill>
                  <a:srgbClr val="1A1A1A"/>
                </a:solidFill>
                <a:latin typeface="Arial" pitchFamily="34" charset="0"/>
                <a:ea typeface="Arial" pitchFamily="34" charset="-122"/>
                <a:cs typeface="Arial" pitchFamily="34" charset="-120"/>
              </a:rPr>
              <a:t>MySQL — muy usado en páginas web, organiza los datos en tablas con filas y columnas.</a:t>
            </a:r>
            <a:endParaRPr lang="en-US" sz="1250"/>
          </a:p>
        </p:txBody>
      </p:sp>
      <p:sp>
        <p:nvSpPr>
          <p:cNvPr id="8" name="Shape 6"/>
          <p:cNvSpPr/>
          <p:nvPr/>
        </p:nvSpPr>
        <p:spPr>
          <a:xfrm>
            <a:off x="548640" y="2286000"/>
            <a:ext cx="329184" cy="329184"/>
          </a:xfrm>
          <a:prstGeom prst="ellipse">
            <a:avLst/>
          </a:prstGeom>
          <a:solidFill>
            <a:srgbClr val="00A896"/>
          </a:solidFill>
          <a:ln/>
        </p:spPr>
      </p:sp>
      <p:sp>
        <p:nvSpPr>
          <p:cNvPr id="9" name="Text 7"/>
          <p:cNvSpPr txBox="1"/>
          <p:nvPr/>
        </p:nvSpPr>
        <p:spPr>
          <a:xfrm>
            <a:off x="548640" y="2286000"/>
            <a:ext cx="329184" cy="329184"/>
          </a:xfrm>
          <a:prstGeom prst="rect">
            <a:avLst/>
          </a:prstGeom>
          <a:noFill/>
          <a:ln/>
        </p:spPr>
        <p:txBody>
          <a:bodyPr wrap="square" lIns="0" tIns="0" rIns="0" bIns="0" rtlCol="0" anchor="ctr"/>
          <a:lstStyle/>
          <a:p>
            <a:pPr marL="0" indent="0" algn="ctr">
              <a:buNone/>
            </a:pPr>
            <a:r>
              <a:rPr lang="en-US" sz="936" b="1">
                <a:solidFill>
                  <a:srgbClr val="FFFFFF"/>
                </a:solidFill>
                <a:latin typeface="Arial" pitchFamily="34" charset="0"/>
                <a:ea typeface="Arial" pitchFamily="34" charset="-122"/>
                <a:cs typeface="Arial" pitchFamily="34" charset="-120"/>
              </a:rPr>
              <a:t>2</a:t>
            </a:r>
            <a:endParaRPr lang="en-US" sz="936"/>
          </a:p>
        </p:txBody>
      </p:sp>
      <p:sp>
        <p:nvSpPr>
          <p:cNvPr id="10" name="Text 8"/>
          <p:cNvSpPr txBox="1"/>
          <p:nvPr/>
        </p:nvSpPr>
        <p:spPr>
          <a:xfrm>
            <a:off x="1051560" y="2249424"/>
            <a:ext cx="10287000" cy="502920"/>
          </a:xfrm>
          <a:prstGeom prst="rect">
            <a:avLst/>
          </a:prstGeom>
          <a:noFill/>
          <a:ln/>
        </p:spPr>
        <p:txBody>
          <a:bodyPr wrap="square" lIns="0" tIns="0" rIns="0" bIns="0" rtlCol="0" anchor="t"/>
          <a:lstStyle/>
          <a:p>
            <a:pPr marL="0" indent="0">
              <a:lnSpc>
                <a:spcPct val="115000"/>
              </a:lnSpc>
              <a:buNone/>
            </a:pPr>
            <a:r>
              <a:rPr lang="en-US" sz="1250">
                <a:solidFill>
                  <a:srgbClr val="1A1A1A"/>
                </a:solidFill>
                <a:latin typeface="Arial" pitchFamily="34" charset="0"/>
                <a:ea typeface="Arial" pitchFamily="34" charset="-122"/>
                <a:cs typeface="Arial" pitchFamily="34" charset="-120"/>
              </a:rPr>
              <a:t>MongoDB — guarda la información como documentos flexibles, sin una estructura fija de columnas.</a:t>
            </a:r>
            <a:endParaRPr lang="en-US" sz="1250"/>
          </a:p>
        </p:txBody>
      </p:sp>
      <p:sp>
        <p:nvSpPr>
          <p:cNvPr id="11" name="Shape 9"/>
          <p:cNvSpPr/>
          <p:nvPr/>
        </p:nvSpPr>
        <p:spPr>
          <a:xfrm>
            <a:off x="548640" y="2743200"/>
            <a:ext cx="329184" cy="329184"/>
          </a:xfrm>
          <a:prstGeom prst="ellipse">
            <a:avLst/>
          </a:prstGeom>
          <a:solidFill>
            <a:srgbClr val="00A896"/>
          </a:solidFill>
          <a:ln/>
        </p:spPr>
      </p:sp>
      <p:sp>
        <p:nvSpPr>
          <p:cNvPr id="12" name="Text 10"/>
          <p:cNvSpPr txBox="1"/>
          <p:nvPr/>
        </p:nvSpPr>
        <p:spPr>
          <a:xfrm>
            <a:off x="548640" y="2743200"/>
            <a:ext cx="329184" cy="329184"/>
          </a:xfrm>
          <a:prstGeom prst="rect">
            <a:avLst/>
          </a:prstGeom>
          <a:noFill/>
          <a:ln/>
        </p:spPr>
        <p:txBody>
          <a:bodyPr wrap="square" lIns="0" tIns="0" rIns="0" bIns="0" rtlCol="0" anchor="ctr"/>
          <a:lstStyle/>
          <a:p>
            <a:pPr marL="0" indent="0" algn="ctr">
              <a:buNone/>
            </a:pPr>
            <a:r>
              <a:rPr lang="en-US" sz="936" b="1">
                <a:solidFill>
                  <a:srgbClr val="FFFFFF"/>
                </a:solidFill>
                <a:latin typeface="Arial" pitchFamily="34" charset="0"/>
                <a:ea typeface="Arial" pitchFamily="34" charset="-122"/>
                <a:cs typeface="Arial" pitchFamily="34" charset="-120"/>
              </a:rPr>
              <a:t>3</a:t>
            </a:r>
            <a:endParaRPr lang="en-US" sz="936"/>
          </a:p>
        </p:txBody>
      </p:sp>
      <p:sp>
        <p:nvSpPr>
          <p:cNvPr id="13" name="Text 11"/>
          <p:cNvSpPr txBox="1"/>
          <p:nvPr/>
        </p:nvSpPr>
        <p:spPr>
          <a:xfrm>
            <a:off x="1051560" y="2706624"/>
            <a:ext cx="10287000" cy="502920"/>
          </a:xfrm>
          <a:prstGeom prst="rect">
            <a:avLst/>
          </a:prstGeom>
          <a:noFill/>
          <a:ln/>
        </p:spPr>
        <p:txBody>
          <a:bodyPr wrap="square" lIns="0" tIns="0" rIns="0" bIns="0" rtlCol="0" anchor="t"/>
          <a:lstStyle/>
          <a:p>
            <a:pPr marL="0" indent="0">
              <a:lnSpc>
                <a:spcPct val="115000"/>
              </a:lnSpc>
              <a:buNone/>
            </a:pPr>
            <a:r>
              <a:rPr lang="en-US" sz="1250">
                <a:solidFill>
                  <a:srgbClr val="1A1A1A"/>
                </a:solidFill>
                <a:latin typeface="Arial" pitchFamily="34" charset="0"/>
                <a:ea typeface="Arial" pitchFamily="34" charset="-122"/>
                <a:cs typeface="Arial" pitchFamily="34" charset="-120"/>
              </a:rPr>
              <a:t>PostgreSQL — otro SGBD basado en tablas relacionadas mediante claves primarias y ajenas.</a:t>
            </a:r>
            <a:endParaRPr lang="en-US" sz="1250"/>
          </a:p>
        </p:txBody>
      </p:sp>
      <p:sp>
        <p:nvSpPr>
          <p:cNvPr id="14" name="Shape 12"/>
          <p:cNvSpPr/>
          <p:nvPr/>
        </p:nvSpPr>
        <p:spPr>
          <a:xfrm>
            <a:off x="548640" y="3200400"/>
            <a:ext cx="329184" cy="329184"/>
          </a:xfrm>
          <a:prstGeom prst="ellipse">
            <a:avLst/>
          </a:prstGeom>
          <a:solidFill>
            <a:srgbClr val="00A896"/>
          </a:solidFill>
          <a:ln/>
        </p:spPr>
      </p:sp>
      <p:sp>
        <p:nvSpPr>
          <p:cNvPr id="15" name="Text 13"/>
          <p:cNvSpPr txBox="1"/>
          <p:nvPr/>
        </p:nvSpPr>
        <p:spPr>
          <a:xfrm>
            <a:off x="548640" y="3200400"/>
            <a:ext cx="329184" cy="329184"/>
          </a:xfrm>
          <a:prstGeom prst="rect">
            <a:avLst/>
          </a:prstGeom>
          <a:noFill/>
          <a:ln/>
        </p:spPr>
        <p:txBody>
          <a:bodyPr wrap="square" lIns="0" tIns="0" rIns="0" bIns="0" rtlCol="0" anchor="ctr"/>
          <a:lstStyle/>
          <a:p>
            <a:pPr marL="0" indent="0" algn="ctr">
              <a:buNone/>
            </a:pPr>
            <a:r>
              <a:rPr lang="en-US" sz="936" b="1">
                <a:solidFill>
                  <a:srgbClr val="FFFFFF"/>
                </a:solidFill>
                <a:latin typeface="Arial" pitchFamily="34" charset="0"/>
                <a:ea typeface="Arial" pitchFamily="34" charset="-122"/>
                <a:cs typeface="Arial" pitchFamily="34" charset="-120"/>
              </a:rPr>
              <a:t>4</a:t>
            </a:r>
            <a:endParaRPr lang="en-US" sz="936"/>
          </a:p>
        </p:txBody>
      </p:sp>
      <p:sp>
        <p:nvSpPr>
          <p:cNvPr id="16" name="Text 14"/>
          <p:cNvSpPr txBox="1"/>
          <p:nvPr/>
        </p:nvSpPr>
        <p:spPr>
          <a:xfrm>
            <a:off x="1051560" y="3163824"/>
            <a:ext cx="10287000" cy="502920"/>
          </a:xfrm>
          <a:prstGeom prst="rect">
            <a:avLst/>
          </a:prstGeom>
          <a:noFill/>
          <a:ln/>
        </p:spPr>
        <p:txBody>
          <a:bodyPr wrap="square" lIns="0" tIns="0" rIns="0" bIns="0" rtlCol="0" anchor="t"/>
          <a:lstStyle/>
          <a:p>
            <a:pPr marL="0" indent="0">
              <a:lnSpc>
                <a:spcPct val="115000"/>
              </a:lnSpc>
              <a:buNone/>
            </a:pPr>
            <a:r>
              <a:rPr lang="en-US" sz="1250">
                <a:solidFill>
                  <a:srgbClr val="1A1A1A"/>
                </a:solidFill>
                <a:latin typeface="Arial" pitchFamily="34" charset="0"/>
                <a:ea typeface="Arial" pitchFamily="34" charset="-122"/>
                <a:cs typeface="Arial" pitchFamily="34" charset="-120"/>
              </a:rPr>
              <a:t>Redis — almacena información como pares clave-valor, pensado para accesos ultrarrápidos.</a:t>
            </a:r>
            <a:endParaRPr lang="en-US" sz="1250"/>
          </a:p>
        </p:txBody>
      </p:sp>
      <p:sp>
        <p:nvSpPr>
          <p:cNvPr id="17" name="Shape 15"/>
          <p:cNvSpPr/>
          <p:nvPr/>
        </p:nvSpPr>
        <p:spPr>
          <a:xfrm>
            <a:off x="548640" y="3794760"/>
            <a:ext cx="10789920" cy="2468880"/>
          </a:xfrm>
          <a:prstGeom prst="roundRect">
            <a:avLst>
              <a:gd name="adj" fmla="val 2963"/>
            </a:avLst>
          </a:prstGeom>
          <a:solidFill>
            <a:srgbClr val="E2EAEA"/>
          </a:solidFill>
          <a:ln/>
        </p:spPr>
      </p:sp>
      <p:sp>
        <p:nvSpPr>
          <p:cNvPr id="18" name="Text 16"/>
          <p:cNvSpPr txBox="1"/>
          <p:nvPr/>
        </p:nvSpPr>
        <p:spPr>
          <a:xfrm>
            <a:off x="777240" y="3904488"/>
            <a:ext cx="3657600" cy="274320"/>
          </a:xfrm>
          <a:prstGeom prst="rect">
            <a:avLst/>
          </a:prstGeom>
          <a:noFill/>
          <a:ln/>
        </p:spPr>
        <p:txBody>
          <a:bodyPr wrap="square" lIns="0" tIns="0" rIns="0" bIns="0" rtlCol="0" anchor="ctr"/>
          <a:lstStyle/>
          <a:p>
            <a:pPr marL="0" indent="0">
              <a:buNone/>
            </a:pPr>
            <a:r>
              <a:rPr lang="en-US" sz="1050" b="1" kern="0" spc="100">
                <a:solidFill>
                  <a:srgbClr val="028090"/>
                </a:solidFill>
                <a:latin typeface="Arial" pitchFamily="34" charset="0"/>
                <a:ea typeface="Arial" pitchFamily="34" charset="-122"/>
                <a:cs typeface="Arial" pitchFamily="34" charset="-120"/>
              </a:rPr>
              <a:t>SOLUCIÓN</a:t>
            </a:r>
            <a:endParaRPr lang="en-US" sz="1050"/>
          </a:p>
        </p:txBody>
      </p:sp>
      <p:sp>
        <p:nvSpPr>
          <p:cNvPr id="19" name="Text 17"/>
          <p:cNvSpPr txBox="1"/>
          <p:nvPr/>
        </p:nvSpPr>
        <p:spPr>
          <a:xfrm>
            <a:off x="777240" y="4206240"/>
            <a:ext cx="10332720" cy="1965960"/>
          </a:xfrm>
          <a:prstGeom prst="rect">
            <a:avLst/>
          </a:prstGeom>
          <a:noFill/>
          <a:ln/>
        </p:spPr>
        <p:txBody>
          <a:bodyPr wrap="square" lIns="0" tIns="0" rIns="0" bIns="0" rtlCol="0" anchor="t"/>
          <a:lstStyle/>
          <a:p>
            <a:pPr marL="0" indent="0">
              <a:lnSpc>
                <a:spcPct val="120000"/>
              </a:lnSpc>
              <a:spcAft>
                <a:spcPts val="600"/>
              </a:spcAft>
              <a:buNone/>
            </a:pPr>
            <a:r>
              <a:rPr lang="en-US" sz="1150">
                <a:solidFill>
                  <a:srgbClr val="444444"/>
                </a:solidFill>
                <a:latin typeface="Arial" pitchFamily="34" charset="0"/>
                <a:ea typeface="Arial" pitchFamily="34" charset="-122"/>
                <a:cs typeface="Arial" pitchFamily="34" charset="-120"/>
              </a:rPr>
              <a:t>1. Relacional: organiza los datos en tablas, filas y columnas.</a:t>
            </a:r>
            <a:endParaRPr lang="en-US" sz="1150"/>
          </a:p>
          <a:p>
            <a:pPr marL="0" indent="0">
              <a:lnSpc>
                <a:spcPct val="120000"/>
              </a:lnSpc>
              <a:spcAft>
                <a:spcPts val="600"/>
              </a:spcAft>
              <a:buNone/>
            </a:pPr>
            <a:r>
              <a:rPr lang="en-US" sz="1150">
                <a:solidFill>
                  <a:srgbClr val="444444"/>
                </a:solidFill>
                <a:latin typeface="Arial" pitchFamily="34" charset="0"/>
                <a:ea typeface="Arial" pitchFamily="34" charset="-122"/>
                <a:cs typeface="Arial" pitchFamily="34" charset="-120"/>
              </a:rPr>
              <a:t>2. No relacional (documental): sin esquema fijo, cada documento puede tener su propia estructura.</a:t>
            </a:r>
            <a:endParaRPr lang="en-US" sz="1150"/>
          </a:p>
          <a:p>
            <a:pPr marL="0" indent="0">
              <a:lnSpc>
                <a:spcPct val="120000"/>
              </a:lnSpc>
              <a:spcAft>
                <a:spcPts val="600"/>
              </a:spcAft>
              <a:buNone/>
            </a:pPr>
            <a:r>
              <a:rPr lang="en-US" sz="1150">
                <a:solidFill>
                  <a:srgbClr val="444444"/>
                </a:solidFill>
                <a:latin typeface="Arial" pitchFamily="34" charset="0"/>
                <a:ea typeface="Arial" pitchFamily="34" charset="-122"/>
                <a:cs typeface="Arial" pitchFamily="34" charset="-120"/>
              </a:rPr>
              <a:t>3. Relacional: mismo enfoque de tablas y claves que MySQL.</a:t>
            </a:r>
            <a:endParaRPr lang="en-US" sz="1150"/>
          </a:p>
          <a:p>
            <a:pPr marL="0" indent="0">
              <a:lnSpc>
                <a:spcPct val="120000"/>
              </a:lnSpc>
              <a:spcAft>
                <a:spcPts val="600"/>
              </a:spcAft>
              <a:buNone/>
            </a:pPr>
            <a:r>
              <a:rPr lang="en-US" sz="1150">
                <a:solidFill>
                  <a:srgbClr val="444444"/>
                </a:solidFill>
                <a:latin typeface="Arial" pitchFamily="34" charset="0"/>
                <a:ea typeface="Arial" pitchFamily="34" charset="-122"/>
                <a:cs typeface="Arial" pitchFamily="34" charset="-120"/>
              </a:rPr>
              <a:t>4. No relacional (clave-valor): la familia NoSQL más simple y rápida.</a:t>
            </a:r>
            <a:endParaRPr lang="en-US" sz="1150"/>
          </a:p>
        </p:txBody>
      </p:sp>
      <p:sp>
        <p:nvSpPr>
          <p:cNvPr id="20" name="Text 18"/>
          <p:cNvSpPr txBox="1"/>
          <p:nvPr/>
        </p:nvSpPr>
        <p:spPr>
          <a:xfrm>
            <a:off x="457200" y="6510528"/>
            <a:ext cx="7315200" cy="274320"/>
          </a:xfrm>
          <a:prstGeom prst="rect">
            <a:avLst/>
          </a:prstGeom>
          <a:noFill/>
          <a:ln/>
        </p:spPr>
        <p:txBody>
          <a:bodyPr wrap="square" lIns="0" tIns="0" rIns="0" bIns="0" rtlCol="0" anchor="ctr"/>
          <a:lstStyle/>
          <a:p>
            <a:pPr marL="0" indent="0">
              <a:buNone/>
            </a:pPr>
            <a:r>
              <a:rPr lang="en-US" sz="900">
                <a:solidFill>
                  <a:srgbClr val="6B6B6B"/>
                </a:solidFill>
                <a:latin typeface="Arial" pitchFamily="34" charset="0"/>
                <a:ea typeface="Arial" pitchFamily="34" charset="-122"/>
                <a:cs typeface="Arial" pitchFamily="34" charset="-120"/>
              </a:rPr>
              <a:t>Cap. 1 · Ejercicio: tipos de SGBD</a:t>
            </a:r>
            <a:endParaRPr lang="en-US" sz="900"/>
          </a:p>
        </p:txBody>
      </p:sp>
      <p:sp>
        <p:nvSpPr>
          <p:cNvPr id="21" name="Text 19"/>
          <p:cNvSpPr txBox="1"/>
          <p:nvPr/>
        </p:nvSpPr>
        <p:spPr>
          <a:xfrm>
            <a:off x="8074152" y="6510528"/>
            <a:ext cx="3657600" cy="274320"/>
          </a:xfrm>
          <a:prstGeom prst="rect">
            <a:avLst/>
          </a:prstGeom>
          <a:noFill/>
          <a:ln/>
        </p:spPr>
        <p:txBody>
          <a:bodyPr wrap="square" lIns="0" tIns="0" rIns="0" bIns="0" rtlCol="0" anchor="ctr"/>
          <a:lstStyle/>
          <a:p>
            <a:pPr marL="0" indent="0" algn="r">
              <a:buNone/>
            </a:pPr>
            <a:r>
              <a:rPr lang="en-US" sz="900">
                <a:solidFill>
                  <a:srgbClr val="6B6B6B"/>
                </a:solidFill>
                <a:latin typeface="Arial" pitchFamily="34" charset="0"/>
                <a:ea typeface="Arial" pitchFamily="34" charset="-122"/>
                <a:cs typeface="Arial" pitchFamily="34" charset="-120"/>
              </a:rPr>
              <a:t>Bases de Datos · DAM/DAW</a:t>
            </a:r>
            <a:endParaRPr lang="en-US" sz="9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DDDDDD"/>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789920" cy="292608"/>
          </a:xfrm>
          <a:prstGeom prst="rect">
            <a:avLst/>
          </a:prstGeom>
          <a:noFill/>
          <a:ln/>
        </p:spPr>
        <p:txBody>
          <a:bodyPr wrap="square" lIns="0" tIns="0" rIns="0" bIns="0" rtlCol="0" anchor="ctr"/>
          <a:lstStyle/>
          <a:p>
            <a:pPr marL="0" indent="0">
              <a:buNone/>
            </a:pPr>
            <a:r>
              <a:rPr lang="en-US" sz="1150" b="1" kern="0" spc="50">
                <a:solidFill>
                  <a:srgbClr val="028090"/>
                </a:solidFill>
                <a:latin typeface="Arial" pitchFamily="34" charset="0"/>
                <a:ea typeface="Arial" pitchFamily="34" charset="-122"/>
                <a:cs typeface="Arial" pitchFamily="34" charset="-120"/>
              </a:rPr>
              <a:t>1.6 · ESTO NO ES OPCIONAL</a:t>
            </a:r>
            <a:endParaRPr lang="en-US" sz="1150"/>
          </a:p>
        </p:txBody>
      </p:sp>
      <p:sp>
        <p:nvSpPr>
          <p:cNvPr id="3" name="Text 1"/>
          <p:cNvSpPr txBox="1"/>
          <p:nvPr/>
        </p:nvSpPr>
        <p:spPr>
          <a:xfrm>
            <a:off x="548640" y="621792"/>
            <a:ext cx="10789920" cy="685800"/>
          </a:xfrm>
          <a:prstGeom prst="rect">
            <a:avLst/>
          </a:prstGeom>
          <a:noFill/>
          <a:ln/>
        </p:spPr>
        <p:txBody>
          <a:bodyPr wrap="square" lIns="0" tIns="0" rIns="0" bIns="0" rtlCol="0" anchor="ctr"/>
          <a:lstStyle/>
          <a:p>
            <a:pPr marL="0" indent="0">
              <a:buNone/>
            </a:pPr>
            <a:r>
              <a:rPr lang="en-US" sz="2400" b="1">
                <a:solidFill>
                  <a:srgbClr val="1A1A1A"/>
                </a:solidFill>
                <a:latin typeface="Arial" pitchFamily="34" charset="0"/>
                <a:ea typeface="Arial" pitchFamily="34" charset="-122"/>
                <a:cs typeface="Arial" pitchFamily="34" charset="-120"/>
              </a:rPr>
              <a:t>La ley y tus datos: RGPD y LOPDGDD</a:t>
            </a:r>
            <a:endParaRPr lang="en-US" sz="2400"/>
          </a:p>
        </p:txBody>
      </p:sp>
      <p:sp>
        <p:nvSpPr>
          <p:cNvPr id="4" name="Text 2"/>
          <p:cNvSpPr txBox="1"/>
          <p:nvPr/>
        </p:nvSpPr>
        <p:spPr>
          <a:xfrm>
            <a:off x="548640" y="1417320"/>
            <a:ext cx="10789920" cy="457200"/>
          </a:xfrm>
          <a:prstGeom prst="rect">
            <a:avLst/>
          </a:prstGeom>
          <a:noFill/>
          <a:ln/>
        </p:spPr>
        <p:txBody>
          <a:bodyPr wrap="square" lIns="0" tIns="0" rIns="0" bIns="0" rtlCol="0" anchor="ctr"/>
          <a:lstStyle/>
          <a:p>
            <a:pPr marL="0" indent="0">
              <a:lnSpc>
                <a:spcPct val="120000"/>
              </a:lnSpc>
              <a:buNone/>
            </a:pPr>
            <a:r>
              <a:rPr lang="en-US" sz="1250" i="1">
                <a:solidFill>
                  <a:srgbClr val="444444"/>
                </a:solidFill>
                <a:latin typeface="Arial" pitchFamily="34" charset="0"/>
                <a:ea typeface="Arial" pitchFamily="34" charset="-122"/>
                <a:cs typeface="Arial" pitchFamily="34" charset="-120"/>
              </a:rPr>
              <a:t>Cuando diseñas una base de datos con nombres, DNIs o fotos de gente real, ya no es solo un ejercicio técnico: hay leyes de por medio.</a:t>
            </a:r>
            <a:endParaRPr lang="en-US" sz="1250"/>
          </a:p>
        </p:txBody>
      </p:sp>
      <p:sp>
        <p:nvSpPr>
          <p:cNvPr id="5" name="Text 3"/>
          <p:cNvSpPr txBox="1"/>
          <p:nvPr/>
        </p:nvSpPr>
        <p:spPr>
          <a:xfrm>
            <a:off x="548640" y="1920240"/>
            <a:ext cx="10789920" cy="4389120"/>
          </a:xfrm>
          <a:prstGeom prst="rect">
            <a:avLst/>
          </a:prstGeom>
          <a:noFill/>
          <a:ln/>
        </p:spPr>
        <p:txBody>
          <a:bodyPr wrap="square" lIns="0" tIns="0" rIns="0" bIns="0" rtlCol="0" anchor="t"/>
          <a:lstStyle/>
          <a:p>
            <a:pPr marL="342900" indent="-342900">
              <a:lnSpc>
                <a:spcPct val="125000"/>
              </a:lnSpc>
              <a:spcAft>
                <a:spcPts val="1000"/>
              </a:spcAft>
              <a:buSzPct val="100000"/>
              <a:buChar char="•"/>
            </a:pPr>
            <a:r>
              <a:rPr lang="en-US" sz="1350">
                <a:solidFill>
                  <a:srgbClr val="1A1A1A"/>
                </a:solidFill>
                <a:latin typeface="Arial" pitchFamily="34" charset="0"/>
                <a:ea typeface="Arial" pitchFamily="34" charset="-122"/>
                <a:cs typeface="Arial" pitchFamily="34" charset="-120"/>
              </a:rPr>
              <a:t>RGPD (Reglamento europeo 2016/679): marca las reglas del juego en toda la UE sobre cómo tratar datos personales.</a:t>
            </a:r>
            <a:endParaRPr lang="en-US" sz="1350"/>
          </a:p>
          <a:p>
            <a:pPr marL="342900" indent="-342900">
              <a:lnSpc>
                <a:spcPct val="125000"/>
              </a:lnSpc>
              <a:spcAft>
                <a:spcPts val="1000"/>
              </a:spcAft>
              <a:buSzPct val="100000"/>
              <a:buChar char="•"/>
            </a:pPr>
            <a:r>
              <a:rPr lang="en-US" sz="1350">
                <a:solidFill>
                  <a:srgbClr val="1A1A1A"/>
                </a:solidFill>
                <a:latin typeface="Arial" pitchFamily="34" charset="0"/>
                <a:ea typeface="Arial" pitchFamily="34" charset="-122"/>
                <a:cs typeface="Arial" pitchFamily="34" charset="-120"/>
              </a:rPr>
              <a:t>Sus principios más importantes: minimización (guarda solo lo que necesites, ni un campo más), limitación de la finalidad (usa los datos solo para lo que dijiste que los ibas a usar), exactitud (mantenlos actualizados y corrige errores) y consentimiento informado (la persona tiene que saber y aceptar qué le vas a hacer a sus datos).</a:t>
            </a:r>
            <a:endParaRPr lang="en-US" sz="1350"/>
          </a:p>
          <a:p>
            <a:pPr marL="342900" indent="-342900">
              <a:lnSpc>
                <a:spcPct val="125000"/>
              </a:lnSpc>
              <a:spcAft>
                <a:spcPts val="1000"/>
              </a:spcAft>
              <a:buSzPct val="100000"/>
              <a:buChar char="•"/>
            </a:pPr>
            <a:r>
              <a:rPr lang="en-US" sz="1350">
                <a:solidFill>
                  <a:srgbClr val="1A1A1A"/>
                </a:solidFill>
                <a:latin typeface="Arial" pitchFamily="34" charset="0"/>
                <a:ea typeface="Arial" pitchFamily="34" charset="-122"/>
                <a:cs typeface="Arial" pitchFamily="34" charset="-120"/>
              </a:rPr>
              <a:t>LOPDGDD (Ley Orgánica 3/2018): la versión española que desarrolla ese reglamento.</a:t>
            </a:r>
            <a:endParaRPr lang="en-US" sz="1350"/>
          </a:p>
          <a:p>
            <a:pPr marL="342900" indent="-342900">
              <a:lnSpc>
                <a:spcPct val="125000"/>
              </a:lnSpc>
              <a:spcAft>
                <a:spcPts val="1000"/>
              </a:spcAft>
              <a:buSzPct val="100000"/>
              <a:buChar char="•"/>
            </a:pPr>
            <a:r>
              <a:rPr lang="en-US" sz="1350">
                <a:solidFill>
                  <a:srgbClr val="1A1A1A"/>
                </a:solidFill>
                <a:latin typeface="Arial" pitchFamily="34" charset="0"/>
                <a:ea typeface="Arial" pitchFamily="34" charset="-122"/>
                <a:cs typeface="Arial" pitchFamily="34" charset="-120"/>
              </a:rPr>
              <a:t>¿Qué significa esto en la práctica al diseñar tu base de datos? Cifrar lo sensible, decidir quién puede ver qué campo, dejar rastro de quién accedió a qué (auditoría) y permitir que alguien pueda pedir ver, corregir o borrar sus datos cuando quiera.</a:t>
            </a:r>
            <a:endParaRPr lang="en-US" sz="1350"/>
          </a:p>
        </p:txBody>
      </p:sp>
      <p:sp>
        <p:nvSpPr>
          <p:cNvPr id="6" name="Text 4"/>
          <p:cNvSpPr txBox="1"/>
          <p:nvPr/>
        </p:nvSpPr>
        <p:spPr>
          <a:xfrm>
            <a:off x="457200" y="6510528"/>
            <a:ext cx="7315200" cy="274320"/>
          </a:xfrm>
          <a:prstGeom prst="rect">
            <a:avLst/>
          </a:prstGeom>
          <a:noFill/>
          <a:ln/>
        </p:spPr>
        <p:txBody>
          <a:bodyPr wrap="square" lIns="0" tIns="0" rIns="0" bIns="0" rtlCol="0" anchor="ctr"/>
          <a:lstStyle/>
          <a:p>
            <a:pPr marL="0" indent="0">
              <a:buNone/>
            </a:pPr>
            <a:r>
              <a:rPr lang="en-US" sz="900">
                <a:solidFill>
                  <a:srgbClr val="6B6B6B"/>
                </a:solidFill>
                <a:latin typeface="Arial" pitchFamily="34" charset="0"/>
                <a:ea typeface="Arial" pitchFamily="34" charset="-122"/>
                <a:cs typeface="Arial" pitchFamily="34" charset="-120"/>
              </a:rPr>
              <a:t>Cap. 1 · Protección de datos</a:t>
            </a:r>
            <a:endParaRPr lang="en-US" sz="900"/>
          </a:p>
        </p:txBody>
      </p:sp>
      <p:sp>
        <p:nvSpPr>
          <p:cNvPr id="7" name="Text 5"/>
          <p:cNvSpPr txBox="1"/>
          <p:nvPr/>
        </p:nvSpPr>
        <p:spPr>
          <a:xfrm>
            <a:off x="8074152" y="6510528"/>
            <a:ext cx="3657600" cy="274320"/>
          </a:xfrm>
          <a:prstGeom prst="rect">
            <a:avLst/>
          </a:prstGeom>
          <a:noFill/>
          <a:ln/>
        </p:spPr>
        <p:txBody>
          <a:bodyPr wrap="square" lIns="0" tIns="0" rIns="0" bIns="0" rtlCol="0" anchor="ctr"/>
          <a:lstStyle/>
          <a:p>
            <a:pPr marL="0" indent="0" algn="r">
              <a:buNone/>
            </a:pPr>
            <a:r>
              <a:rPr lang="en-US" sz="900">
                <a:solidFill>
                  <a:srgbClr val="6B6B6B"/>
                </a:solidFill>
                <a:latin typeface="Arial" pitchFamily="34" charset="0"/>
                <a:ea typeface="Arial" pitchFamily="34" charset="-122"/>
                <a:cs typeface="Arial" pitchFamily="34" charset="-120"/>
              </a:rPr>
              <a:t>Bases de Datos · DAM/DAW</a:t>
            </a:r>
            <a:endParaRPr lang="en-US" sz="9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DDDDDD"/>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789920" cy="292608"/>
          </a:xfrm>
          <a:prstGeom prst="rect">
            <a:avLst/>
          </a:prstGeom>
          <a:noFill/>
          <a:ln/>
        </p:spPr>
        <p:txBody>
          <a:bodyPr wrap="square" lIns="0" tIns="0" rIns="0" bIns="0" rtlCol="0" anchor="ctr"/>
          <a:lstStyle/>
          <a:p>
            <a:pPr marL="0" indent="0">
              <a:buNone/>
            </a:pPr>
            <a:r>
              <a:rPr lang="en-US" sz="1150" b="1" kern="0" spc="50">
                <a:solidFill>
                  <a:srgbClr val="028090"/>
                </a:solidFill>
                <a:latin typeface="Arial" pitchFamily="34" charset="0"/>
                <a:ea typeface="Arial" pitchFamily="34" charset="-122"/>
                <a:cs typeface="Arial" pitchFamily="34" charset="-120"/>
              </a:rPr>
              <a:t>EJERCICIO 1.6</a:t>
            </a:r>
            <a:endParaRPr lang="en-US" sz="1150"/>
          </a:p>
        </p:txBody>
      </p:sp>
      <p:sp>
        <p:nvSpPr>
          <p:cNvPr id="3" name="Text 1"/>
          <p:cNvSpPr txBox="1"/>
          <p:nvPr/>
        </p:nvSpPr>
        <p:spPr>
          <a:xfrm>
            <a:off x="548640" y="621792"/>
            <a:ext cx="10789920" cy="685800"/>
          </a:xfrm>
          <a:prstGeom prst="rect">
            <a:avLst/>
          </a:prstGeom>
          <a:noFill/>
          <a:ln/>
        </p:spPr>
        <p:txBody>
          <a:bodyPr wrap="square" lIns="0" tIns="0" rIns="0" bIns="0" rtlCol="0" anchor="ctr"/>
          <a:lstStyle/>
          <a:p>
            <a:pPr marL="0" indent="0">
              <a:buNone/>
            </a:pPr>
            <a:r>
              <a:rPr lang="en-US" sz="2400" b="1">
                <a:solidFill>
                  <a:srgbClr val="1A1A1A"/>
                </a:solidFill>
                <a:latin typeface="Arial" pitchFamily="34" charset="0"/>
                <a:ea typeface="Arial" pitchFamily="34" charset="-122"/>
                <a:cs typeface="Arial" pitchFamily="34" charset="-120"/>
              </a:rPr>
              <a:t>Caso práctico: la base de datos de la autoescuela</a:t>
            </a:r>
            <a:endParaRPr lang="en-US" sz="2400"/>
          </a:p>
        </p:txBody>
      </p:sp>
      <p:sp>
        <p:nvSpPr>
          <p:cNvPr id="4" name="Text 2"/>
          <p:cNvSpPr txBox="1"/>
          <p:nvPr/>
        </p:nvSpPr>
        <p:spPr>
          <a:xfrm>
            <a:off x="548640" y="1371600"/>
            <a:ext cx="10789920" cy="365760"/>
          </a:xfrm>
          <a:prstGeom prst="rect">
            <a:avLst/>
          </a:prstGeom>
          <a:noFill/>
          <a:ln/>
        </p:spPr>
        <p:txBody>
          <a:bodyPr wrap="square" lIns="0" tIns="0" rIns="0" bIns="0" rtlCol="0" anchor="ctr"/>
          <a:lstStyle/>
          <a:p>
            <a:pPr marL="0" indent="0">
              <a:buNone/>
            </a:pPr>
            <a:r>
              <a:rPr lang="en-US" sz="1200" i="1">
                <a:solidFill>
                  <a:srgbClr val="444444"/>
                </a:solidFill>
                <a:latin typeface="Arial" pitchFamily="34" charset="0"/>
                <a:ea typeface="Arial" pitchFamily="34" charset="-122"/>
                <a:cs typeface="Arial" pitchFamily="34" charset="-120"/>
              </a:rPr>
              <a:t>Vas a diseñar la base de datos de una autoescuela. Guardará el nombre, DNI, teléfono y una foto de cada alumno, además de sus notas de examen.</a:t>
            </a:r>
            <a:endParaRPr lang="en-US" sz="1200"/>
          </a:p>
        </p:txBody>
      </p:sp>
      <p:sp>
        <p:nvSpPr>
          <p:cNvPr id="5" name="Shape 3"/>
          <p:cNvSpPr/>
          <p:nvPr/>
        </p:nvSpPr>
        <p:spPr>
          <a:xfrm>
            <a:off x="548640" y="1828800"/>
            <a:ext cx="329184" cy="329184"/>
          </a:xfrm>
          <a:prstGeom prst="ellipse">
            <a:avLst/>
          </a:prstGeom>
          <a:solidFill>
            <a:srgbClr val="00A896"/>
          </a:solidFill>
          <a:ln/>
        </p:spPr>
      </p:sp>
      <p:sp>
        <p:nvSpPr>
          <p:cNvPr id="6" name="Text 4"/>
          <p:cNvSpPr txBox="1"/>
          <p:nvPr/>
        </p:nvSpPr>
        <p:spPr>
          <a:xfrm>
            <a:off x="548640" y="1828800"/>
            <a:ext cx="329184" cy="329184"/>
          </a:xfrm>
          <a:prstGeom prst="rect">
            <a:avLst/>
          </a:prstGeom>
          <a:noFill/>
          <a:ln/>
        </p:spPr>
        <p:txBody>
          <a:bodyPr wrap="square" lIns="0" tIns="0" rIns="0" bIns="0" rtlCol="0" anchor="ctr"/>
          <a:lstStyle/>
          <a:p>
            <a:pPr marL="0" indent="0" algn="ctr">
              <a:buNone/>
            </a:pPr>
            <a:r>
              <a:rPr lang="en-US" sz="936" b="1">
                <a:solidFill>
                  <a:srgbClr val="FFFFFF"/>
                </a:solidFill>
                <a:latin typeface="Arial" pitchFamily="34" charset="0"/>
                <a:ea typeface="Arial" pitchFamily="34" charset="-122"/>
                <a:cs typeface="Arial" pitchFamily="34" charset="-120"/>
              </a:rPr>
              <a:t>1</a:t>
            </a:r>
            <a:endParaRPr lang="en-US" sz="936"/>
          </a:p>
        </p:txBody>
      </p:sp>
      <p:sp>
        <p:nvSpPr>
          <p:cNvPr id="7" name="Text 5"/>
          <p:cNvSpPr txBox="1"/>
          <p:nvPr/>
        </p:nvSpPr>
        <p:spPr>
          <a:xfrm>
            <a:off x="1051560" y="1792224"/>
            <a:ext cx="10287000" cy="502920"/>
          </a:xfrm>
          <a:prstGeom prst="rect">
            <a:avLst/>
          </a:prstGeom>
          <a:noFill/>
          <a:ln/>
        </p:spPr>
        <p:txBody>
          <a:bodyPr wrap="square" lIns="0" tIns="0" rIns="0" bIns="0" rtlCol="0" anchor="t"/>
          <a:lstStyle/>
          <a:p>
            <a:pPr marL="0" indent="0">
              <a:lnSpc>
                <a:spcPct val="115000"/>
              </a:lnSpc>
              <a:buNone/>
            </a:pPr>
            <a:r>
              <a:rPr lang="en-US" sz="1250">
                <a:solidFill>
                  <a:srgbClr val="1A1A1A"/>
                </a:solidFill>
                <a:latin typeface="Arial" pitchFamily="34" charset="0"/>
                <a:ea typeface="Arial" pitchFamily="34" charset="-122"/>
                <a:cs typeface="Arial" pitchFamily="34" charset="-120"/>
              </a:rPr>
              <a:t>¿Qué campos de esta base de datos consideras especialmente sensibles y por qué?</a:t>
            </a:r>
            <a:endParaRPr lang="en-US" sz="1250"/>
          </a:p>
        </p:txBody>
      </p:sp>
      <p:sp>
        <p:nvSpPr>
          <p:cNvPr id="8" name="Shape 6"/>
          <p:cNvSpPr/>
          <p:nvPr/>
        </p:nvSpPr>
        <p:spPr>
          <a:xfrm>
            <a:off x="548640" y="2286000"/>
            <a:ext cx="329184" cy="329184"/>
          </a:xfrm>
          <a:prstGeom prst="ellipse">
            <a:avLst/>
          </a:prstGeom>
          <a:solidFill>
            <a:srgbClr val="00A896"/>
          </a:solidFill>
          <a:ln/>
        </p:spPr>
      </p:sp>
      <p:sp>
        <p:nvSpPr>
          <p:cNvPr id="9" name="Text 7"/>
          <p:cNvSpPr txBox="1"/>
          <p:nvPr/>
        </p:nvSpPr>
        <p:spPr>
          <a:xfrm>
            <a:off x="548640" y="2286000"/>
            <a:ext cx="329184" cy="329184"/>
          </a:xfrm>
          <a:prstGeom prst="rect">
            <a:avLst/>
          </a:prstGeom>
          <a:noFill/>
          <a:ln/>
        </p:spPr>
        <p:txBody>
          <a:bodyPr wrap="square" lIns="0" tIns="0" rIns="0" bIns="0" rtlCol="0" anchor="ctr"/>
          <a:lstStyle/>
          <a:p>
            <a:pPr marL="0" indent="0" algn="ctr">
              <a:buNone/>
            </a:pPr>
            <a:r>
              <a:rPr lang="en-US" sz="936" b="1">
                <a:solidFill>
                  <a:srgbClr val="FFFFFF"/>
                </a:solidFill>
                <a:latin typeface="Arial" pitchFamily="34" charset="0"/>
                <a:ea typeface="Arial" pitchFamily="34" charset="-122"/>
                <a:cs typeface="Arial" pitchFamily="34" charset="-120"/>
              </a:rPr>
              <a:t>2</a:t>
            </a:r>
            <a:endParaRPr lang="en-US" sz="936"/>
          </a:p>
        </p:txBody>
      </p:sp>
      <p:sp>
        <p:nvSpPr>
          <p:cNvPr id="10" name="Text 8"/>
          <p:cNvSpPr txBox="1"/>
          <p:nvPr/>
        </p:nvSpPr>
        <p:spPr>
          <a:xfrm>
            <a:off x="1051560" y="2249424"/>
            <a:ext cx="10287000" cy="502920"/>
          </a:xfrm>
          <a:prstGeom prst="rect">
            <a:avLst/>
          </a:prstGeom>
          <a:noFill/>
          <a:ln/>
        </p:spPr>
        <p:txBody>
          <a:bodyPr wrap="square" lIns="0" tIns="0" rIns="0" bIns="0" rtlCol="0" anchor="t"/>
          <a:lstStyle/>
          <a:p>
            <a:pPr marL="0" indent="0">
              <a:lnSpc>
                <a:spcPct val="115000"/>
              </a:lnSpc>
              <a:buNone/>
            </a:pPr>
            <a:r>
              <a:rPr lang="en-US" sz="1250">
                <a:solidFill>
                  <a:srgbClr val="1A1A1A"/>
                </a:solidFill>
                <a:latin typeface="Arial" pitchFamily="34" charset="0"/>
                <a:ea typeface="Arial" pitchFamily="34" charset="-122"/>
                <a:cs typeface="Arial" pitchFamily="34" charset="-120"/>
              </a:rPr>
              <a:t>Un alumno te pide, seis meses después de aprobar, que borres todos sus datos. ¿Puedes negarte sin más?</a:t>
            </a:r>
            <a:endParaRPr lang="en-US" sz="1250"/>
          </a:p>
        </p:txBody>
      </p:sp>
      <p:sp>
        <p:nvSpPr>
          <p:cNvPr id="11" name="Shape 9"/>
          <p:cNvSpPr/>
          <p:nvPr/>
        </p:nvSpPr>
        <p:spPr>
          <a:xfrm>
            <a:off x="548640" y="2798064"/>
            <a:ext cx="329184" cy="329184"/>
          </a:xfrm>
          <a:prstGeom prst="ellipse">
            <a:avLst/>
          </a:prstGeom>
          <a:solidFill>
            <a:srgbClr val="00A896"/>
          </a:solidFill>
          <a:ln/>
        </p:spPr>
      </p:sp>
      <p:sp>
        <p:nvSpPr>
          <p:cNvPr id="12" name="Text 10"/>
          <p:cNvSpPr txBox="1"/>
          <p:nvPr/>
        </p:nvSpPr>
        <p:spPr>
          <a:xfrm>
            <a:off x="548640" y="2798064"/>
            <a:ext cx="329184" cy="329184"/>
          </a:xfrm>
          <a:prstGeom prst="rect">
            <a:avLst/>
          </a:prstGeom>
          <a:noFill/>
          <a:ln/>
        </p:spPr>
        <p:txBody>
          <a:bodyPr wrap="square" lIns="0" tIns="0" rIns="0" bIns="0" rtlCol="0" anchor="ctr"/>
          <a:lstStyle/>
          <a:p>
            <a:pPr marL="0" indent="0" algn="ctr">
              <a:buNone/>
            </a:pPr>
            <a:r>
              <a:rPr lang="en-US" sz="936" b="1">
                <a:solidFill>
                  <a:srgbClr val="FFFFFF"/>
                </a:solidFill>
                <a:latin typeface="Arial" pitchFamily="34" charset="0"/>
                <a:ea typeface="Arial" pitchFamily="34" charset="-122"/>
                <a:cs typeface="Arial" pitchFamily="34" charset="-120"/>
              </a:rPr>
              <a:t>3</a:t>
            </a:r>
            <a:endParaRPr lang="en-US" sz="936"/>
          </a:p>
        </p:txBody>
      </p:sp>
      <p:sp>
        <p:nvSpPr>
          <p:cNvPr id="13" name="Text 11"/>
          <p:cNvSpPr txBox="1"/>
          <p:nvPr/>
        </p:nvSpPr>
        <p:spPr>
          <a:xfrm>
            <a:off x="1051560" y="2761488"/>
            <a:ext cx="10287000" cy="502920"/>
          </a:xfrm>
          <a:prstGeom prst="rect">
            <a:avLst/>
          </a:prstGeom>
          <a:noFill/>
          <a:ln/>
        </p:spPr>
        <p:txBody>
          <a:bodyPr wrap="square" lIns="0" tIns="0" rIns="0" bIns="0" rtlCol="0" anchor="t"/>
          <a:lstStyle/>
          <a:p>
            <a:pPr marL="0" indent="0">
              <a:lnSpc>
                <a:spcPct val="115000"/>
              </a:lnSpc>
              <a:buNone/>
            </a:pPr>
            <a:r>
              <a:rPr lang="en-US" sz="1250">
                <a:solidFill>
                  <a:srgbClr val="1A1A1A"/>
                </a:solidFill>
                <a:latin typeface="Arial" pitchFamily="34" charset="0"/>
                <a:ea typeface="Arial" pitchFamily="34" charset="-122"/>
                <a:cs typeface="Arial" pitchFamily="34" charset="-120"/>
              </a:rPr>
              <a:t>¿Debería poder ver la foto y el DNI de los alumnos cualquier empleado de la autoescuela, o solo algunos?</a:t>
            </a:r>
            <a:endParaRPr lang="en-US" sz="1250"/>
          </a:p>
        </p:txBody>
      </p:sp>
      <p:sp>
        <p:nvSpPr>
          <p:cNvPr id="14" name="Shape 12"/>
          <p:cNvSpPr/>
          <p:nvPr/>
        </p:nvSpPr>
        <p:spPr>
          <a:xfrm>
            <a:off x="548640" y="3310128"/>
            <a:ext cx="329184" cy="329184"/>
          </a:xfrm>
          <a:prstGeom prst="ellipse">
            <a:avLst/>
          </a:prstGeom>
          <a:solidFill>
            <a:srgbClr val="00A896"/>
          </a:solidFill>
          <a:ln/>
        </p:spPr>
      </p:sp>
      <p:sp>
        <p:nvSpPr>
          <p:cNvPr id="15" name="Text 13"/>
          <p:cNvSpPr txBox="1"/>
          <p:nvPr/>
        </p:nvSpPr>
        <p:spPr>
          <a:xfrm>
            <a:off x="548640" y="3310128"/>
            <a:ext cx="329184" cy="329184"/>
          </a:xfrm>
          <a:prstGeom prst="rect">
            <a:avLst/>
          </a:prstGeom>
          <a:noFill/>
          <a:ln/>
        </p:spPr>
        <p:txBody>
          <a:bodyPr wrap="square" lIns="0" tIns="0" rIns="0" bIns="0" rtlCol="0" anchor="ctr"/>
          <a:lstStyle/>
          <a:p>
            <a:pPr marL="0" indent="0" algn="ctr">
              <a:buNone/>
            </a:pPr>
            <a:r>
              <a:rPr lang="en-US" sz="936" b="1">
                <a:solidFill>
                  <a:srgbClr val="FFFFFF"/>
                </a:solidFill>
                <a:latin typeface="Arial" pitchFamily="34" charset="0"/>
                <a:ea typeface="Arial" pitchFamily="34" charset="-122"/>
                <a:cs typeface="Arial" pitchFamily="34" charset="-120"/>
              </a:rPr>
              <a:t>4</a:t>
            </a:r>
            <a:endParaRPr lang="en-US" sz="936"/>
          </a:p>
        </p:txBody>
      </p:sp>
      <p:sp>
        <p:nvSpPr>
          <p:cNvPr id="16" name="Text 14"/>
          <p:cNvSpPr txBox="1"/>
          <p:nvPr/>
        </p:nvSpPr>
        <p:spPr>
          <a:xfrm>
            <a:off x="1051560" y="3273552"/>
            <a:ext cx="10287000" cy="502920"/>
          </a:xfrm>
          <a:prstGeom prst="rect">
            <a:avLst/>
          </a:prstGeom>
          <a:noFill/>
          <a:ln/>
        </p:spPr>
        <p:txBody>
          <a:bodyPr wrap="square" lIns="0" tIns="0" rIns="0" bIns="0" rtlCol="0" anchor="t"/>
          <a:lstStyle/>
          <a:p>
            <a:pPr marL="0" indent="0">
              <a:lnSpc>
                <a:spcPct val="115000"/>
              </a:lnSpc>
              <a:buNone/>
            </a:pPr>
            <a:r>
              <a:rPr lang="en-US" sz="1250">
                <a:solidFill>
                  <a:srgbClr val="1A1A1A"/>
                </a:solidFill>
                <a:latin typeface="Arial" pitchFamily="34" charset="0"/>
                <a:ea typeface="Arial" pitchFamily="34" charset="-122"/>
                <a:cs typeface="Arial" pitchFamily="34" charset="-120"/>
              </a:rPr>
              <a:t>Un día encuentras que alguien accedió a los datos de un alumno famoso sin motivo aparente. ¿Cómo lo detectarías?</a:t>
            </a:r>
            <a:endParaRPr lang="en-US" sz="1250"/>
          </a:p>
        </p:txBody>
      </p:sp>
      <p:sp>
        <p:nvSpPr>
          <p:cNvPr id="17" name="Shape 15"/>
          <p:cNvSpPr/>
          <p:nvPr/>
        </p:nvSpPr>
        <p:spPr>
          <a:xfrm>
            <a:off x="548640" y="3959352"/>
            <a:ext cx="10789920" cy="2304288"/>
          </a:xfrm>
          <a:prstGeom prst="roundRect">
            <a:avLst>
              <a:gd name="adj" fmla="val 3175"/>
            </a:avLst>
          </a:prstGeom>
          <a:solidFill>
            <a:srgbClr val="E2EAEA"/>
          </a:solidFill>
          <a:ln/>
        </p:spPr>
      </p:sp>
      <p:sp>
        <p:nvSpPr>
          <p:cNvPr id="18" name="Text 16"/>
          <p:cNvSpPr txBox="1"/>
          <p:nvPr/>
        </p:nvSpPr>
        <p:spPr>
          <a:xfrm>
            <a:off x="777240" y="4069080"/>
            <a:ext cx="3657600" cy="274320"/>
          </a:xfrm>
          <a:prstGeom prst="rect">
            <a:avLst/>
          </a:prstGeom>
          <a:noFill/>
          <a:ln/>
        </p:spPr>
        <p:txBody>
          <a:bodyPr wrap="square" lIns="0" tIns="0" rIns="0" bIns="0" rtlCol="0" anchor="ctr"/>
          <a:lstStyle/>
          <a:p>
            <a:pPr marL="0" indent="0">
              <a:buNone/>
            </a:pPr>
            <a:r>
              <a:rPr lang="en-US" sz="1050" b="1" kern="0" spc="100">
                <a:solidFill>
                  <a:srgbClr val="028090"/>
                </a:solidFill>
                <a:latin typeface="Arial" pitchFamily="34" charset="0"/>
                <a:ea typeface="Arial" pitchFamily="34" charset="-122"/>
                <a:cs typeface="Arial" pitchFamily="34" charset="-120"/>
              </a:rPr>
              <a:t>SOLUCIÓN</a:t>
            </a:r>
            <a:endParaRPr lang="en-US" sz="1050"/>
          </a:p>
        </p:txBody>
      </p:sp>
      <p:sp>
        <p:nvSpPr>
          <p:cNvPr id="19" name="Text 17"/>
          <p:cNvSpPr txBox="1"/>
          <p:nvPr/>
        </p:nvSpPr>
        <p:spPr>
          <a:xfrm>
            <a:off x="777240" y="4370832"/>
            <a:ext cx="10332720" cy="1801368"/>
          </a:xfrm>
          <a:prstGeom prst="rect">
            <a:avLst/>
          </a:prstGeom>
          <a:noFill/>
          <a:ln/>
        </p:spPr>
        <p:txBody>
          <a:bodyPr wrap="square" lIns="0" tIns="0" rIns="0" bIns="0" rtlCol="0" anchor="t"/>
          <a:lstStyle/>
          <a:p>
            <a:pPr marL="0" indent="0">
              <a:lnSpc>
                <a:spcPct val="120000"/>
              </a:lnSpc>
              <a:spcAft>
                <a:spcPts val="600"/>
              </a:spcAft>
              <a:buNone/>
            </a:pPr>
            <a:r>
              <a:rPr lang="en-US" sz="1150">
                <a:solidFill>
                  <a:srgbClr val="444444"/>
                </a:solidFill>
                <a:latin typeface="Arial" pitchFamily="34" charset="0"/>
                <a:ea typeface="Arial" pitchFamily="34" charset="-122"/>
                <a:cs typeface="Arial" pitchFamily="34" charset="-120"/>
              </a:rPr>
              <a:t>1. El DNI y la foto: son datos que identifican directamente a la persona y requieren especial protección.</a:t>
            </a:r>
            <a:endParaRPr lang="en-US" sz="1150"/>
          </a:p>
          <a:p>
            <a:pPr marL="0" indent="0">
              <a:lnSpc>
                <a:spcPct val="120000"/>
              </a:lnSpc>
              <a:spcAft>
                <a:spcPts val="600"/>
              </a:spcAft>
              <a:buNone/>
            </a:pPr>
            <a:r>
              <a:rPr lang="en-US" sz="1150">
                <a:solidFill>
                  <a:srgbClr val="444444"/>
                </a:solidFill>
                <a:latin typeface="Arial" pitchFamily="34" charset="0"/>
                <a:ea typeface="Arial" pitchFamily="34" charset="-122"/>
                <a:cs typeface="Arial" pitchFamily="34" charset="-120"/>
              </a:rPr>
              <a:t>2. No de cualquier manera: la LOPDGDD reconoce ese derecho, aunque puede haber plazos legales de conservación que haya que respetar antes de borrar del todo.</a:t>
            </a:r>
            <a:endParaRPr lang="en-US" sz="1150"/>
          </a:p>
          <a:p>
            <a:pPr marL="0" indent="0">
              <a:lnSpc>
                <a:spcPct val="120000"/>
              </a:lnSpc>
              <a:spcAft>
                <a:spcPts val="600"/>
              </a:spcAft>
              <a:buNone/>
            </a:pPr>
            <a:r>
              <a:rPr lang="en-US" sz="1150">
                <a:solidFill>
                  <a:srgbClr val="444444"/>
                </a:solidFill>
                <a:latin typeface="Arial" pitchFamily="34" charset="0"/>
                <a:ea typeface="Arial" pitchFamily="34" charset="-122"/>
                <a:cs typeface="Arial" pitchFamily="34" charset="-120"/>
              </a:rPr>
              <a:t>3. Solo algunos: aplicando el principio de mínimo privilegio, no todo el personal necesita ver esos datos para hacer su trabajo.</a:t>
            </a:r>
            <a:endParaRPr lang="en-US" sz="1150"/>
          </a:p>
          <a:p>
            <a:pPr marL="0" indent="0">
              <a:lnSpc>
                <a:spcPct val="120000"/>
              </a:lnSpc>
              <a:spcAft>
                <a:spcPts val="600"/>
              </a:spcAft>
              <a:buNone/>
            </a:pPr>
            <a:r>
              <a:rPr lang="en-US" sz="1150">
                <a:solidFill>
                  <a:srgbClr val="444444"/>
                </a:solidFill>
                <a:latin typeface="Arial" pitchFamily="34" charset="0"/>
                <a:ea typeface="Arial" pitchFamily="34" charset="-122"/>
                <a:cs typeface="Arial" pitchFamily="34" charset="-120"/>
              </a:rPr>
              <a:t>4. Gracias a un registro de auditoría: si cada acceso queda anotado (quién, cuándo, a qué dato), se puede revisar después.</a:t>
            </a:r>
            <a:endParaRPr lang="en-US" sz="1150"/>
          </a:p>
        </p:txBody>
      </p:sp>
      <p:sp>
        <p:nvSpPr>
          <p:cNvPr id="20" name="Text 18"/>
          <p:cNvSpPr txBox="1"/>
          <p:nvPr/>
        </p:nvSpPr>
        <p:spPr>
          <a:xfrm>
            <a:off x="457200" y="6510528"/>
            <a:ext cx="7315200" cy="274320"/>
          </a:xfrm>
          <a:prstGeom prst="rect">
            <a:avLst/>
          </a:prstGeom>
          <a:noFill/>
          <a:ln/>
        </p:spPr>
        <p:txBody>
          <a:bodyPr wrap="square" lIns="0" tIns="0" rIns="0" bIns="0" rtlCol="0" anchor="ctr"/>
          <a:lstStyle/>
          <a:p>
            <a:pPr marL="0" indent="0">
              <a:buNone/>
            </a:pPr>
            <a:r>
              <a:rPr lang="en-US" sz="900">
                <a:solidFill>
                  <a:srgbClr val="6B6B6B"/>
                </a:solidFill>
                <a:latin typeface="Arial" pitchFamily="34" charset="0"/>
                <a:ea typeface="Arial" pitchFamily="34" charset="-122"/>
                <a:cs typeface="Arial" pitchFamily="34" charset="-120"/>
              </a:rPr>
              <a:t>Cap. 1 · Ejercicio: protección de datos</a:t>
            </a:r>
            <a:endParaRPr lang="en-US" sz="900"/>
          </a:p>
        </p:txBody>
      </p:sp>
      <p:sp>
        <p:nvSpPr>
          <p:cNvPr id="21" name="Text 19"/>
          <p:cNvSpPr txBox="1"/>
          <p:nvPr/>
        </p:nvSpPr>
        <p:spPr>
          <a:xfrm>
            <a:off x="8074152" y="6510528"/>
            <a:ext cx="3657600" cy="274320"/>
          </a:xfrm>
          <a:prstGeom prst="rect">
            <a:avLst/>
          </a:prstGeom>
          <a:noFill/>
          <a:ln/>
        </p:spPr>
        <p:txBody>
          <a:bodyPr wrap="square" lIns="0" tIns="0" rIns="0" bIns="0" rtlCol="0" anchor="ctr"/>
          <a:lstStyle/>
          <a:p>
            <a:pPr marL="0" indent="0" algn="r">
              <a:buNone/>
            </a:pPr>
            <a:r>
              <a:rPr lang="en-US" sz="900">
                <a:solidFill>
                  <a:srgbClr val="6B6B6B"/>
                </a:solidFill>
                <a:latin typeface="Arial" pitchFamily="34" charset="0"/>
                <a:ea typeface="Arial" pitchFamily="34" charset="-122"/>
                <a:cs typeface="Arial" pitchFamily="34" charset="-120"/>
              </a:rPr>
              <a:t>Bases de Datos · DAM/DAW</a:t>
            </a:r>
            <a:endParaRPr lang="en-US" sz="9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DDDDDD"/>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789920" cy="292608"/>
          </a:xfrm>
          <a:prstGeom prst="rect">
            <a:avLst/>
          </a:prstGeom>
          <a:noFill/>
          <a:ln/>
        </p:spPr>
        <p:txBody>
          <a:bodyPr wrap="square" lIns="0" tIns="0" rIns="0" bIns="0" rtlCol="0" anchor="ctr"/>
          <a:lstStyle/>
          <a:p>
            <a:pPr marL="0" indent="0">
              <a:buNone/>
            </a:pPr>
            <a:r>
              <a:rPr lang="en-US" sz="1150" b="1" kern="0" spc="50">
                <a:solidFill>
                  <a:srgbClr val="028090"/>
                </a:solidFill>
                <a:latin typeface="Arial" pitchFamily="34" charset="0"/>
                <a:ea typeface="Arial" pitchFamily="34" charset="-122"/>
                <a:cs typeface="Arial" pitchFamily="34" charset="-120"/>
              </a:rPr>
              <a:t>1.7 · CUANDO LOS DATOS SE HACEN ENORMES</a:t>
            </a:r>
            <a:endParaRPr lang="en-US" sz="1150"/>
          </a:p>
        </p:txBody>
      </p:sp>
      <p:sp>
        <p:nvSpPr>
          <p:cNvPr id="3" name="Text 1"/>
          <p:cNvSpPr txBox="1"/>
          <p:nvPr/>
        </p:nvSpPr>
        <p:spPr>
          <a:xfrm>
            <a:off x="548640" y="621792"/>
            <a:ext cx="10789920" cy="685800"/>
          </a:xfrm>
          <a:prstGeom prst="rect">
            <a:avLst/>
          </a:prstGeom>
          <a:noFill/>
          <a:ln/>
        </p:spPr>
        <p:txBody>
          <a:bodyPr wrap="square" lIns="0" tIns="0" rIns="0" bIns="0" rtlCol="0" anchor="ctr"/>
          <a:lstStyle/>
          <a:p>
            <a:pPr marL="0" indent="0">
              <a:buNone/>
            </a:pPr>
            <a:r>
              <a:rPr lang="en-US" sz="2400" b="1">
                <a:solidFill>
                  <a:srgbClr val="1A1A1A"/>
                </a:solidFill>
                <a:latin typeface="Arial" pitchFamily="34" charset="0"/>
                <a:ea typeface="Arial" pitchFamily="34" charset="-122"/>
                <a:cs typeface="Arial" pitchFamily="34" charset="-120"/>
              </a:rPr>
              <a:t>Big Data e inteligencia de negocio</a:t>
            </a:r>
            <a:endParaRPr lang="en-US" sz="2400"/>
          </a:p>
        </p:txBody>
      </p:sp>
      <p:sp>
        <p:nvSpPr>
          <p:cNvPr id="4" name="Text 2"/>
          <p:cNvSpPr txBox="1"/>
          <p:nvPr/>
        </p:nvSpPr>
        <p:spPr>
          <a:xfrm>
            <a:off x="548640" y="1417320"/>
            <a:ext cx="10789920" cy="457200"/>
          </a:xfrm>
          <a:prstGeom prst="rect">
            <a:avLst/>
          </a:prstGeom>
          <a:noFill/>
          <a:ln/>
        </p:spPr>
        <p:txBody>
          <a:bodyPr wrap="square" lIns="0" tIns="0" rIns="0" bIns="0" rtlCol="0" anchor="ctr"/>
          <a:lstStyle/>
          <a:p>
            <a:pPr marL="0" indent="0">
              <a:lnSpc>
                <a:spcPct val="120000"/>
              </a:lnSpc>
              <a:buNone/>
            </a:pPr>
            <a:r>
              <a:rPr lang="en-US" sz="1250" i="1">
                <a:solidFill>
                  <a:srgbClr val="444444"/>
                </a:solidFill>
                <a:latin typeface="Arial" pitchFamily="34" charset="0"/>
                <a:ea typeface="Arial" pitchFamily="34" charset="-122"/>
                <a:cs typeface="Arial" pitchFamily="34" charset="-120"/>
              </a:rPr>
              <a:t>¿Cómo sabe una app de música qué canción ponerte después, o una red social qué vídeo enseñarte? Ahí es donde una base de datos normal se queda pequeña y entra el Big Data.</a:t>
            </a:r>
            <a:endParaRPr lang="en-US" sz="1250"/>
          </a:p>
        </p:txBody>
      </p:sp>
      <p:sp>
        <p:nvSpPr>
          <p:cNvPr id="5" name="Text 3"/>
          <p:cNvSpPr txBox="1"/>
          <p:nvPr/>
        </p:nvSpPr>
        <p:spPr>
          <a:xfrm>
            <a:off x="548640" y="1920240"/>
            <a:ext cx="10789920" cy="4389120"/>
          </a:xfrm>
          <a:prstGeom prst="rect">
            <a:avLst/>
          </a:prstGeom>
          <a:noFill/>
          <a:ln/>
        </p:spPr>
        <p:txBody>
          <a:bodyPr wrap="square" lIns="0" tIns="0" rIns="0" bIns="0" rtlCol="0" anchor="t"/>
          <a:lstStyle/>
          <a:p>
            <a:pPr marL="342900" indent="-342900">
              <a:lnSpc>
                <a:spcPct val="125000"/>
              </a:lnSpc>
              <a:spcAft>
                <a:spcPts val="1000"/>
              </a:spcAft>
              <a:buSzPct val="100000"/>
              <a:buChar char="•"/>
            </a:pPr>
            <a:r>
              <a:rPr lang="en-US" sz="1350">
                <a:solidFill>
                  <a:srgbClr val="1A1A1A"/>
                </a:solidFill>
                <a:latin typeface="Arial" pitchFamily="34" charset="0"/>
                <a:ea typeface="Arial" pitchFamily="34" charset="-122"/>
                <a:cs typeface="Arial" pitchFamily="34" charset="-120"/>
              </a:rPr>
              <a:t>Las 3 "V" del Big Data: Volumen (cantidades brutales de datos), Velocidad (se generan y procesan casi al instante) y Variedad (texto, vídeo, ubicación, clics... todo mezclado).</a:t>
            </a:r>
            <a:endParaRPr lang="en-US" sz="1350"/>
          </a:p>
          <a:p>
            <a:pPr marL="342900" indent="-342900">
              <a:lnSpc>
                <a:spcPct val="125000"/>
              </a:lnSpc>
              <a:spcAft>
                <a:spcPts val="1000"/>
              </a:spcAft>
              <a:buSzPct val="100000"/>
              <a:buChar char="•"/>
            </a:pPr>
            <a:r>
              <a:rPr lang="en-US" sz="1350">
                <a:solidFill>
                  <a:srgbClr val="1A1A1A"/>
                </a:solidFill>
                <a:latin typeface="Arial" pitchFamily="34" charset="0"/>
                <a:ea typeface="Arial" pitchFamily="34" charset="-122"/>
                <a:cs typeface="Arial" pitchFamily="34" charset="-120"/>
              </a:rPr>
              <a:t>Algunos añaden una cuarta V, Veracidad: de nada sirve tener muchísimos datos si no puedes confiar en su calidad.</a:t>
            </a:r>
            <a:endParaRPr lang="en-US" sz="1350"/>
          </a:p>
          <a:p>
            <a:pPr marL="342900" indent="-342900">
              <a:lnSpc>
                <a:spcPct val="125000"/>
              </a:lnSpc>
              <a:spcAft>
                <a:spcPts val="1000"/>
              </a:spcAft>
              <a:buSzPct val="100000"/>
              <a:buChar char="•"/>
            </a:pPr>
            <a:r>
              <a:rPr lang="en-US" sz="1350">
                <a:solidFill>
                  <a:srgbClr val="1A1A1A"/>
                </a:solidFill>
                <a:latin typeface="Arial" pitchFamily="34" charset="0"/>
                <a:ea typeface="Arial" pitchFamily="34" charset="-122"/>
                <a:cs typeface="Arial" pitchFamily="34" charset="-120"/>
              </a:rPr>
              <a:t>Análisis de datos: sacar patrones útiles de todo ese caos de información, normalmente con técnicas estadísticas o de inteligencia artificial.</a:t>
            </a:r>
            <a:endParaRPr lang="en-US" sz="1350"/>
          </a:p>
          <a:p>
            <a:pPr marL="342900" indent="-342900">
              <a:lnSpc>
                <a:spcPct val="125000"/>
              </a:lnSpc>
              <a:spcAft>
                <a:spcPts val="1000"/>
              </a:spcAft>
              <a:buSzPct val="100000"/>
              <a:buChar char="•"/>
            </a:pPr>
            <a:r>
              <a:rPr lang="en-US" sz="1350">
                <a:solidFill>
                  <a:srgbClr val="1A1A1A"/>
                </a:solidFill>
                <a:latin typeface="Arial" pitchFamily="34" charset="0"/>
                <a:ea typeface="Arial" pitchFamily="34" charset="-122"/>
                <a:cs typeface="Arial" pitchFamily="34" charset="-120"/>
              </a:rPr>
              <a:t>Inteligencia de negocio (Business Intelligence): convertir esos datos en gráficas y paneles que ayudan a tomar decisiones — el típico dashboard lleno de números que ves en las empresas.</a:t>
            </a:r>
            <a:endParaRPr lang="en-US" sz="1350"/>
          </a:p>
          <a:p>
            <a:pPr marL="342900" indent="-342900">
              <a:lnSpc>
                <a:spcPct val="125000"/>
              </a:lnSpc>
              <a:spcAft>
                <a:spcPts val="1000"/>
              </a:spcAft>
              <a:buSzPct val="100000"/>
              <a:buChar char="•"/>
            </a:pPr>
            <a:r>
              <a:rPr lang="en-US" sz="1350">
                <a:solidFill>
                  <a:srgbClr val="1A1A1A"/>
                </a:solidFill>
                <a:latin typeface="Arial" pitchFamily="34" charset="0"/>
                <a:ea typeface="Arial" pitchFamily="34" charset="-122"/>
                <a:cs typeface="Arial" pitchFamily="34" charset="-120"/>
              </a:rPr>
              <a:t>Todo esto conecta directamente con el bloque 7, donde veremos las bases de datos no relacionales que suelen estar detrás de estos casos.</a:t>
            </a:r>
            <a:endParaRPr lang="en-US" sz="1350"/>
          </a:p>
        </p:txBody>
      </p:sp>
      <p:sp>
        <p:nvSpPr>
          <p:cNvPr id="6" name="Text 4"/>
          <p:cNvSpPr txBox="1"/>
          <p:nvPr/>
        </p:nvSpPr>
        <p:spPr>
          <a:xfrm>
            <a:off x="457200" y="6510528"/>
            <a:ext cx="7315200" cy="274320"/>
          </a:xfrm>
          <a:prstGeom prst="rect">
            <a:avLst/>
          </a:prstGeom>
          <a:noFill/>
          <a:ln/>
        </p:spPr>
        <p:txBody>
          <a:bodyPr wrap="square" lIns="0" tIns="0" rIns="0" bIns="0" rtlCol="0" anchor="ctr"/>
          <a:lstStyle/>
          <a:p>
            <a:pPr marL="0" indent="0">
              <a:buNone/>
            </a:pPr>
            <a:r>
              <a:rPr lang="en-US" sz="900">
                <a:solidFill>
                  <a:srgbClr val="6B6B6B"/>
                </a:solidFill>
                <a:latin typeface="Arial" pitchFamily="34" charset="0"/>
                <a:ea typeface="Arial" pitchFamily="34" charset="-122"/>
                <a:cs typeface="Arial" pitchFamily="34" charset="-120"/>
              </a:rPr>
              <a:t>Cap. 1 · Big Data</a:t>
            </a:r>
            <a:endParaRPr lang="en-US" sz="900"/>
          </a:p>
        </p:txBody>
      </p:sp>
      <p:sp>
        <p:nvSpPr>
          <p:cNvPr id="7" name="Text 5"/>
          <p:cNvSpPr txBox="1"/>
          <p:nvPr/>
        </p:nvSpPr>
        <p:spPr>
          <a:xfrm>
            <a:off x="8074152" y="6510528"/>
            <a:ext cx="3657600" cy="274320"/>
          </a:xfrm>
          <a:prstGeom prst="rect">
            <a:avLst/>
          </a:prstGeom>
          <a:noFill/>
          <a:ln/>
        </p:spPr>
        <p:txBody>
          <a:bodyPr wrap="square" lIns="0" tIns="0" rIns="0" bIns="0" rtlCol="0" anchor="ctr"/>
          <a:lstStyle/>
          <a:p>
            <a:pPr marL="0" indent="0" algn="r">
              <a:buNone/>
            </a:pPr>
            <a:r>
              <a:rPr lang="en-US" sz="900">
                <a:solidFill>
                  <a:srgbClr val="6B6B6B"/>
                </a:solidFill>
                <a:latin typeface="Arial" pitchFamily="34" charset="0"/>
                <a:ea typeface="Arial" pitchFamily="34" charset="-122"/>
                <a:cs typeface="Arial" pitchFamily="34" charset="-120"/>
              </a:rPr>
              <a:t>Bases de Datos · DAM/DAW</a:t>
            </a:r>
            <a:endParaRPr lang="en-US" sz="9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DDDDDD"/>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789920" cy="292608"/>
          </a:xfrm>
          <a:prstGeom prst="rect">
            <a:avLst/>
          </a:prstGeom>
          <a:noFill/>
          <a:ln/>
        </p:spPr>
        <p:txBody>
          <a:bodyPr wrap="square" lIns="0" tIns="0" rIns="0" bIns="0" rtlCol="0" anchor="ctr"/>
          <a:lstStyle/>
          <a:p>
            <a:pPr marL="0" indent="0">
              <a:buNone/>
            </a:pPr>
            <a:r>
              <a:rPr lang="en-US" sz="1150" b="1" kern="0" spc="50">
                <a:solidFill>
                  <a:srgbClr val="028090"/>
                </a:solidFill>
                <a:latin typeface="Arial" pitchFamily="34" charset="0"/>
                <a:ea typeface="Arial" pitchFamily="34" charset="-122"/>
                <a:cs typeface="Arial" pitchFamily="34" charset="-120"/>
              </a:rPr>
              <a:t>EJERCICIO 1.7</a:t>
            </a:r>
            <a:endParaRPr lang="en-US" sz="1150"/>
          </a:p>
        </p:txBody>
      </p:sp>
      <p:sp>
        <p:nvSpPr>
          <p:cNvPr id="3" name="Text 1"/>
          <p:cNvSpPr txBox="1"/>
          <p:nvPr/>
        </p:nvSpPr>
        <p:spPr>
          <a:xfrm>
            <a:off x="548640" y="621792"/>
            <a:ext cx="10789920" cy="685800"/>
          </a:xfrm>
          <a:prstGeom prst="rect">
            <a:avLst/>
          </a:prstGeom>
          <a:noFill/>
          <a:ln/>
        </p:spPr>
        <p:txBody>
          <a:bodyPr wrap="square" lIns="0" tIns="0" rIns="0" bIns="0" rtlCol="0" anchor="ctr"/>
          <a:lstStyle/>
          <a:p>
            <a:pPr marL="0" indent="0">
              <a:buNone/>
            </a:pPr>
            <a:r>
              <a:rPr lang="en-US" sz="2400" b="1">
                <a:solidFill>
                  <a:srgbClr val="1A1A1A"/>
                </a:solidFill>
                <a:latin typeface="Arial" pitchFamily="34" charset="0"/>
                <a:ea typeface="Arial" pitchFamily="34" charset="-122"/>
                <a:cs typeface="Arial" pitchFamily="34" charset="-120"/>
              </a:rPr>
              <a:t>Identifica la V del Big Data</a:t>
            </a:r>
            <a:endParaRPr lang="en-US" sz="2400"/>
          </a:p>
        </p:txBody>
      </p:sp>
      <p:sp>
        <p:nvSpPr>
          <p:cNvPr id="4" name="Text 2"/>
          <p:cNvSpPr txBox="1"/>
          <p:nvPr/>
        </p:nvSpPr>
        <p:spPr>
          <a:xfrm>
            <a:off x="548640" y="1371600"/>
            <a:ext cx="10789920" cy="365760"/>
          </a:xfrm>
          <a:prstGeom prst="rect">
            <a:avLst/>
          </a:prstGeom>
          <a:noFill/>
          <a:ln/>
        </p:spPr>
        <p:txBody>
          <a:bodyPr wrap="square" lIns="0" tIns="0" rIns="0" bIns="0" rtlCol="0" anchor="ctr"/>
          <a:lstStyle/>
          <a:p>
            <a:pPr marL="0" indent="0">
              <a:buNone/>
            </a:pPr>
            <a:r>
              <a:rPr lang="en-US" sz="1200" i="1">
                <a:solidFill>
                  <a:srgbClr val="444444"/>
                </a:solidFill>
                <a:latin typeface="Arial" pitchFamily="34" charset="0"/>
                <a:ea typeface="Arial" pitchFamily="34" charset="-122"/>
                <a:cs typeface="Arial" pitchFamily="34" charset="-120"/>
              </a:rPr>
              <a:t>Para cada caso, indica cuál de las V del Big Data (Volumen, Velocidad, Variedad o Veracidad) es la más protagonista.</a:t>
            </a:r>
            <a:endParaRPr lang="en-US" sz="1200"/>
          </a:p>
        </p:txBody>
      </p:sp>
      <p:sp>
        <p:nvSpPr>
          <p:cNvPr id="5" name="Shape 3"/>
          <p:cNvSpPr/>
          <p:nvPr/>
        </p:nvSpPr>
        <p:spPr>
          <a:xfrm>
            <a:off x="548640" y="1828800"/>
            <a:ext cx="329184" cy="329184"/>
          </a:xfrm>
          <a:prstGeom prst="ellipse">
            <a:avLst/>
          </a:prstGeom>
          <a:solidFill>
            <a:srgbClr val="00A896"/>
          </a:solidFill>
          <a:ln/>
        </p:spPr>
      </p:sp>
      <p:sp>
        <p:nvSpPr>
          <p:cNvPr id="6" name="Text 4"/>
          <p:cNvSpPr txBox="1"/>
          <p:nvPr/>
        </p:nvSpPr>
        <p:spPr>
          <a:xfrm>
            <a:off x="548640" y="1828800"/>
            <a:ext cx="329184" cy="329184"/>
          </a:xfrm>
          <a:prstGeom prst="rect">
            <a:avLst/>
          </a:prstGeom>
          <a:noFill/>
          <a:ln/>
        </p:spPr>
        <p:txBody>
          <a:bodyPr wrap="square" lIns="0" tIns="0" rIns="0" bIns="0" rtlCol="0" anchor="ctr"/>
          <a:lstStyle/>
          <a:p>
            <a:pPr marL="0" indent="0" algn="ctr">
              <a:buNone/>
            </a:pPr>
            <a:r>
              <a:rPr lang="en-US" sz="936" b="1">
                <a:solidFill>
                  <a:srgbClr val="FFFFFF"/>
                </a:solidFill>
                <a:latin typeface="Arial" pitchFamily="34" charset="0"/>
                <a:ea typeface="Arial" pitchFamily="34" charset="-122"/>
                <a:cs typeface="Arial" pitchFamily="34" charset="-120"/>
              </a:rPr>
              <a:t>1</a:t>
            </a:r>
            <a:endParaRPr lang="en-US" sz="936"/>
          </a:p>
        </p:txBody>
      </p:sp>
      <p:sp>
        <p:nvSpPr>
          <p:cNvPr id="7" name="Text 5"/>
          <p:cNvSpPr txBox="1"/>
          <p:nvPr/>
        </p:nvSpPr>
        <p:spPr>
          <a:xfrm>
            <a:off x="1051560" y="1792224"/>
            <a:ext cx="10287000" cy="502920"/>
          </a:xfrm>
          <a:prstGeom prst="rect">
            <a:avLst/>
          </a:prstGeom>
          <a:noFill/>
          <a:ln/>
        </p:spPr>
        <p:txBody>
          <a:bodyPr wrap="square" lIns="0" tIns="0" rIns="0" bIns="0" rtlCol="0" anchor="t"/>
          <a:lstStyle/>
          <a:p>
            <a:pPr marL="0" indent="0">
              <a:lnSpc>
                <a:spcPct val="115000"/>
              </a:lnSpc>
              <a:buNone/>
            </a:pPr>
            <a:r>
              <a:rPr lang="en-US" sz="1250">
                <a:solidFill>
                  <a:srgbClr val="1A1A1A"/>
                </a:solidFill>
                <a:latin typeface="Arial" pitchFamily="34" charset="0"/>
                <a:ea typeface="Arial" pitchFamily="34" charset="-122"/>
                <a:cs typeface="Arial" pitchFamily="34" charset="-120"/>
              </a:rPr>
              <a:t>Una red social recibe cientos de miles de publicaciones nuevas cada minuto, a todas horas del día.</a:t>
            </a:r>
            <a:endParaRPr lang="en-US" sz="1250"/>
          </a:p>
        </p:txBody>
      </p:sp>
      <p:sp>
        <p:nvSpPr>
          <p:cNvPr id="8" name="Shape 6"/>
          <p:cNvSpPr/>
          <p:nvPr/>
        </p:nvSpPr>
        <p:spPr>
          <a:xfrm>
            <a:off x="548640" y="2286000"/>
            <a:ext cx="329184" cy="329184"/>
          </a:xfrm>
          <a:prstGeom prst="ellipse">
            <a:avLst/>
          </a:prstGeom>
          <a:solidFill>
            <a:srgbClr val="00A896"/>
          </a:solidFill>
          <a:ln/>
        </p:spPr>
      </p:sp>
      <p:sp>
        <p:nvSpPr>
          <p:cNvPr id="9" name="Text 7"/>
          <p:cNvSpPr txBox="1"/>
          <p:nvPr/>
        </p:nvSpPr>
        <p:spPr>
          <a:xfrm>
            <a:off x="548640" y="2286000"/>
            <a:ext cx="329184" cy="329184"/>
          </a:xfrm>
          <a:prstGeom prst="rect">
            <a:avLst/>
          </a:prstGeom>
          <a:noFill/>
          <a:ln/>
        </p:spPr>
        <p:txBody>
          <a:bodyPr wrap="square" lIns="0" tIns="0" rIns="0" bIns="0" rtlCol="0" anchor="ctr"/>
          <a:lstStyle/>
          <a:p>
            <a:pPr marL="0" indent="0" algn="ctr">
              <a:buNone/>
            </a:pPr>
            <a:r>
              <a:rPr lang="en-US" sz="936" b="1">
                <a:solidFill>
                  <a:srgbClr val="FFFFFF"/>
                </a:solidFill>
                <a:latin typeface="Arial" pitchFamily="34" charset="0"/>
                <a:ea typeface="Arial" pitchFamily="34" charset="-122"/>
                <a:cs typeface="Arial" pitchFamily="34" charset="-120"/>
              </a:rPr>
              <a:t>2</a:t>
            </a:r>
            <a:endParaRPr lang="en-US" sz="936"/>
          </a:p>
        </p:txBody>
      </p:sp>
      <p:sp>
        <p:nvSpPr>
          <p:cNvPr id="10" name="Text 8"/>
          <p:cNvSpPr txBox="1"/>
          <p:nvPr/>
        </p:nvSpPr>
        <p:spPr>
          <a:xfrm>
            <a:off x="1051560" y="2249424"/>
            <a:ext cx="10287000" cy="502920"/>
          </a:xfrm>
          <a:prstGeom prst="rect">
            <a:avLst/>
          </a:prstGeom>
          <a:noFill/>
          <a:ln/>
        </p:spPr>
        <p:txBody>
          <a:bodyPr wrap="square" lIns="0" tIns="0" rIns="0" bIns="0" rtlCol="0" anchor="t"/>
          <a:lstStyle/>
          <a:p>
            <a:pPr marL="0" indent="0">
              <a:lnSpc>
                <a:spcPct val="115000"/>
              </a:lnSpc>
              <a:buNone/>
            </a:pPr>
            <a:r>
              <a:rPr lang="en-US" sz="1250">
                <a:solidFill>
                  <a:srgbClr val="1A1A1A"/>
                </a:solidFill>
                <a:latin typeface="Arial" pitchFamily="34" charset="0"/>
                <a:ea typeface="Arial" pitchFamily="34" charset="-122"/>
                <a:cs typeface="Arial" pitchFamily="34" charset="-120"/>
              </a:rPr>
              <a:t>Una plataforma de streaming guarda vídeo, texto de subtítulos, valoraciones numéricas y comentarios de texto libre, todo junto.</a:t>
            </a:r>
            <a:endParaRPr lang="en-US" sz="1250"/>
          </a:p>
        </p:txBody>
      </p:sp>
      <p:sp>
        <p:nvSpPr>
          <p:cNvPr id="11" name="Shape 9"/>
          <p:cNvSpPr/>
          <p:nvPr/>
        </p:nvSpPr>
        <p:spPr>
          <a:xfrm>
            <a:off x="548640" y="2798064"/>
            <a:ext cx="329184" cy="329184"/>
          </a:xfrm>
          <a:prstGeom prst="ellipse">
            <a:avLst/>
          </a:prstGeom>
          <a:solidFill>
            <a:srgbClr val="00A896"/>
          </a:solidFill>
          <a:ln/>
        </p:spPr>
      </p:sp>
      <p:sp>
        <p:nvSpPr>
          <p:cNvPr id="12" name="Text 10"/>
          <p:cNvSpPr txBox="1"/>
          <p:nvPr/>
        </p:nvSpPr>
        <p:spPr>
          <a:xfrm>
            <a:off x="548640" y="2798064"/>
            <a:ext cx="329184" cy="329184"/>
          </a:xfrm>
          <a:prstGeom prst="rect">
            <a:avLst/>
          </a:prstGeom>
          <a:noFill/>
          <a:ln/>
        </p:spPr>
        <p:txBody>
          <a:bodyPr wrap="square" lIns="0" tIns="0" rIns="0" bIns="0" rtlCol="0" anchor="ctr"/>
          <a:lstStyle/>
          <a:p>
            <a:pPr marL="0" indent="0" algn="ctr">
              <a:buNone/>
            </a:pPr>
            <a:r>
              <a:rPr lang="en-US" sz="936" b="1">
                <a:solidFill>
                  <a:srgbClr val="FFFFFF"/>
                </a:solidFill>
                <a:latin typeface="Arial" pitchFamily="34" charset="0"/>
                <a:ea typeface="Arial" pitchFamily="34" charset="-122"/>
                <a:cs typeface="Arial" pitchFamily="34" charset="-120"/>
              </a:rPr>
              <a:t>3</a:t>
            </a:r>
            <a:endParaRPr lang="en-US" sz="936"/>
          </a:p>
        </p:txBody>
      </p:sp>
      <p:sp>
        <p:nvSpPr>
          <p:cNvPr id="13" name="Text 11"/>
          <p:cNvSpPr txBox="1"/>
          <p:nvPr/>
        </p:nvSpPr>
        <p:spPr>
          <a:xfrm>
            <a:off x="1051560" y="2761488"/>
            <a:ext cx="10287000" cy="502920"/>
          </a:xfrm>
          <a:prstGeom prst="rect">
            <a:avLst/>
          </a:prstGeom>
          <a:noFill/>
          <a:ln/>
        </p:spPr>
        <p:txBody>
          <a:bodyPr wrap="square" lIns="0" tIns="0" rIns="0" bIns="0" rtlCol="0" anchor="t"/>
          <a:lstStyle/>
          <a:p>
            <a:pPr marL="0" indent="0">
              <a:lnSpc>
                <a:spcPct val="115000"/>
              </a:lnSpc>
              <a:buNone/>
            </a:pPr>
            <a:r>
              <a:rPr lang="en-US" sz="1250">
                <a:solidFill>
                  <a:srgbClr val="1A1A1A"/>
                </a:solidFill>
                <a:latin typeface="Arial" pitchFamily="34" charset="0"/>
                <a:ea typeface="Arial" pitchFamily="34" charset="-122"/>
                <a:cs typeface="Arial" pitchFamily="34" charset="-120"/>
              </a:rPr>
              <a:t>Un operador de telefonía guarda los registros de llamadas de 40 millones de clientes durante los últimos 10 años.</a:t>
            </a:r>
            <a:endParaRPr lang="en-US" sz="1250"/>
          </a:p>
        </p:txBody>
      </p:sp>
      <p:sp>
        <p:nvSpPr>
          <p:cNvPr id="14" name="Shape 12"/>
          <p:cNvSpPr/>
          <p:nvPr/>
        </p:nvSpPr>
        <p:spPr>
          <a:xfrm>
            <a:off x="548640" y="3310128"/>
            <a:ext cx="329184" cy="329184"/>
          </a:xfrm>
          <a:prstGeom prst="ellipse">
            <a:avLst/>
          </a:prstGeom>
          <a:solidFill>
            <a:srgbClr val="00A896"/>
          </a:solidFill>
          <a:ln/>
        </p:spPr>
      </p:sp>
      <p:sp>
        <p:nvSpPr>
          <p:cNvPr id="15" name="Text 13"/>
          <p:cNvSpPr txBox="1"/>
          <p:nvPr/>
        </p:nvSpPr>
        <p:spPr>
          <a:xfrm>
            <a:off x="548640" y="3310128"/>
            <a:ext cx="329184" cy="329184"/>
          </a:xfrm>
          <a:prstGeom prst="rect">
            <a:avLst/>
          </a:prstGeom>
          <a:noFill/>
          <a:ln/>
        </p:spPr>
        <p:txBody>
          <a:bodyPr wrap="square" lIns="0" tIns="0" rIns="0" bIns="0" rtlCol="0" anchor="ctr"/>
          <a:lstStyle/>
          <a:p>
            <a:pPr marL="0" indent="0" algn="ctr">
              <a:buNone/>
            </a:pPr>
            <a:r>
              <a:rPr lang="en-US" sz="936" b="1">
                <a:solidFill>
                  <a:srgbClr val="FFFFFF"/>
                </a:solidFill>
                <a:latin typeface="Arial" pitchFamily="34" charset="0"/>
                <a:ea typeface="Arial" pitchFamily="34" charset="-122"/>
                <a:cs typeface="Arial" pitchFamily="34" charset="-120"/>
              </a:rPr>
              <a:t>4</a:t>
            </a:r>
            <a:endParaRPr lang="en-US" sz="936"/>
          </a:p>
        </p:txBody>
      </p:sp>
      <p:sp>
        <p:nvSpPr>
          <p:cNvPr id="16" name="Text 14"/>
          <p:cNvSpPr txBox="1"/>
          <p:nvPr/>
        </p:nvSpPr>
        <p:spPr>
          <a:xfrm>
            <a:off x="1051560" y="3273552"/>
            <a:ext cx="10287000" cy="502920"/>
          </a:xfrm>
          <a:prstGeom prst="rect">
            <a:avLst/>
          </a:prstGeom>
          <a:noFill/>
          <a:ln/>
        </p:spPr>
        <p:txBody>
          <a:bodyPr wrap="square" lIns="0" tIns="0" rIns="0" bIns="0" rtlCol="0" anchor="t"/>
          <a:lstStyle/>
          <a:p>
            <a:pPr marL="0" indent="0">
              <a:lnSpc>
                <a:spcPct val="115000"/>
              </a:lnSpc>
              <a:buNone/>
            </a:pPr>
            <a:r>
              <a:rPr lang="en-US" sz="1250">
                <a:solidFill>
                  <a:srgbClr val="1A1A1A"/>
                </a:solidFill>
                <a:latin typeface="Arial" pitchFamily="34" charset="0"/>
                <a:ea typeface="Arial" pitchFamily="34" charset="-122"/>
                <a:cs typeface="Arial" pitchFamily="34" charset="-120"/>
              </a:rPr>
              <a:t>Una empresa detecta que parte de los datos que ha comprado a un proveedor externo están mal etiquetados y no puede fiarse de ellos.</a:t>
            </a:r>
            <a:endParaRPr lang="en-US" sz="1250"/>
          </a:p>
        </p:txBody>
      </p:sp>
      <p:sp>
        <p:nvSpPr>
          <p:cNvPr id="17" name="Shape 15"/>
          <p:cNvSpPr/>
          <p:nvPr/>
        </p:nvSpPr>
        <p:spPr>
          <a:xfrm>
            <a:off x="548640" y="3959352"/>
            <a:ext cx="10789920" cy="2304288"/>
          </a:xfrm>
          <a:prstGeom prst="roundRect">
            <a:avLst>
              <a:gd name="adj" fmla="val 3175"/>
            </a:avLst>
          </a:prstGeom>
          <a:solidFill>
            <a:srgbClr val="E2EAEA"/>
          </a:solidFill>
          <a:ln/>
        </p:spPr>
      </p:sp>
      <p:sp>
        <p:nvSpPr>
          <p:cNvPr id="18" name="Text 16"/>
          <p:cNvSpPr txBox="1"/>
          <p:nvPr/>
        </p:nvSpPr>
        <p:spPr>
          <a:xfrm>
            <a:off x="777240" y="4069080"/>
            <a:ext cx="3657600" cy="274320"/>
          </a:xfrm>
          <a:prstGeom prst="rect">
            <a:avLst/>
          </a:prstGeom>
          <a:noFill/>
          <a:ln/>
        </p:spPr>
        <p:txBody>
          <a:bodyPr wrap="square" lIns="0" tIns="0" rIns="0" bIns="0" rtlCol="0" anchor="ctr"/>
          <a:lstStyle/>
          <a:p>
            <a:pPr marL="0" indent="0">
              <a:buNone/>
            </a:pPr>
            <a:r>
              <a:rPr lang="en-US" sz="1050" b="1" kern="0" spc="100">
                <a:solidFill>
                  <a:srgbClr val="028090"/>
                </a:solidFill>
                <a:latin typeface="Arial" pitchFamily="34" charset="0"/>
                <a:ea typeface="Arial" pitchFamily="34" charset="-122"/>
                <a:cs typeface="Arial" pitchFamily="34" charset="-120"/>
              </a:rPr>
              <a:t>SOLUCIÓN</a:t>
            </a:r>
            <a:endParaRPr lang="en-US" sz="1050"/>
          </a:p>
        </p:txBody>
      </p:sp>
      <p:sp>
        <p:nvSpPr>
          <p:cNvPr id="19" name="Text 17"/>
          <p:cNvSpPr txBox="1"/>
          <p:nvPr/>
        </p:nvSpPr>
        <p:spPr>
          <a:xfrm>
            <a:off x="777240" y="4370832"/>
            <a:ext cx="10332720" cy="1801368"/>
          </a:xfrm>
          <a:prstGeom prst="rect">
            <a:avLst/>
          </a:prstGeom>
          <a:noFill/>
          <a:ln/>
        </p:spPr>
        <p:txBody>
          <a:bodyPr wrap="square" lIns="0" tIns="0" rIns="0" bIns="0" rtlCol="0" anchor="t"/>
          <a:lstStyle/>
          <a:p>
            <a:pPr marL="0" indent="0">
              <a:lnSpc>
                <a:spcPct val="120000"/>
              </a:lnSpc>
              <a:spcAft>
                <a:spcPts val="600"/>
              </a:spcAft>
              <a:buNone/>
            </a:pPr>
            <a:r>
              <a:rPr lang="en-US" sz="1150">
                <a:solidFill>
                  <a:srgbClr val="444444"/>
                </a:solidFill>
                <a:latin typeface="Arial" pitchFamily="34" charset="0"/>
                <a:ea typeface="Arial" pitchFamily="34" charset="-122"/>
                <a:cs typeface="Arial" pitchFamily="34" charset="-120"/>
              </a:rPr>
              <a:t>1. Velocidad: el reto está en procesar ese ritmo de generación de datos casi al instante.</a:t>
            </a:r>
            <a:endParaRPr lang="en-US" sz="1150"/>
          </a:p>
          <a:p>
            <a:pPr marL="0" indent="0">
              <a:lnSpc>
                <a:spcPct val="120000"/>
              </a:lnSpc>
              <a:spcAft>
                <a:spcPts val="600"/>
              </a:spcAft>
              <a:buNone/>
            </a:pPr>
            <a:r>
              <a:rPr lang="en-US" sz="1150">
                <a:solidFill>
                  <a:srgbClr val="444444"/>
                </a:solidFill>
                <a:latin typeface="Arial" pitchFamily="34" charset="0"/>
                <a:ea typeface="Arial" pitchFamily="34" charset="-122"/>
                <a:cs typeface="Arial" pitchFamily="34" charset="-120"/>
              </a:rPr>
              <a:t>2. Variedad: son tipos de datos muy distintos entre sí (vídeo, texto, números) mezclados en el mismo sistema.</a:t>
            </a:r>
            <a:endParaRPr lang="en-US" sz="1150"/>
          </a:p>
          <a:p>
            <a:pPr marL="0" indent="0">
              <a:lnSpc>
                <a:spcPct val="120000"/>
              </a:lnSpc>
              <a:spcAft>
                <a:spcPts val="600"/>
              </a:spcAft>
              <a:buNone/>
            </a:pPr>
            <a:r>
              <a:rPr lang="en-US" sz="1150">
                <a:solidFill>
                  <a:srgbClr val="444444"/>
                </a:solidFill>
                <a:latin typeface="Arial" pitchFamily="34" charset="0"/>
                <a:ea typeface="Arial" pitchFamily="34" charset="-122"/>
                <a:cs typeface="Arial" pitchFamily="34" charset="-120"/>
              </a:rPr>
              <a:t>3. Volumen: la cantidad total de información acumulada durante años es descomunal.</a:t>
            </a:r>
            <a:endParaRPr lang="en-US" sz="1150"/>
          </a:p>
          <a:p>
            <a:pPr marL="0" indent="0">
              <a:lnSpc>
                <a:spcPct val="120000"/>
              </a:lnSpc>
              <a:spcAft>
                <a:spcPts val="600"/>
              </a:spcAft>
              <a:buNone/>
            </a:pPr>
            <a:r>
              <a:rPr lang="en-US" sz="1150">
                <a:solidFill>
                  <a:srgbClr val="444444"/>
                </a:solidFill>
                <a:latin typeface="Arial" pitchFamily="34" charset="0"/>
                <a:ea typeface="Arial" pitchFamily="34" charset="-122"/>
                <a:cs typeface="Arial" pitchFamily="34" charset="-120"/>
              </a:rPr>
              <a:t>4. Veracidad: el problema no es la cantidad ni la velocidad, sino poder confiar en la calidad de esos datos.</a:t>
            </a:r>
            <a:endParaRPr lang="en-US" sz="1150"/>
          </a:p>
        </p:txBody>
      </p:sp>
      <p:sp>
        <p:nvSpPr>
          <p:cNvPr id="20" name="Text 18"/>
          <p:cNvSpPr txBox="1"/>
          <p:nvPr/>
        </p:nvSpPr>
        <p:spPr>
          <a:xfrm>
            <a:off x="457200" y="6510528"/>
            <a:ext cx="7315200" cy="274320"/>
          </a:xfrm>
          <a:prstGeom prst="rect">
            <a:avLst/>
          </a:prstGeom>
          <a:noFill/>
          <a:ln/>
        </p:spPr>
        <p:txBody>
          <a:bodyPr wrap="square" lIns="0" tIns="0" rIns="0" bIns="0" rtlCol="0" anchor="ctr"/>
          <a:lstStyle/>
          <a:p>
            <a:pPr marL="0" indent="0">
              <a:buNone/>
            </a:pPr>
            <a:r>
              <a:rPr lang="en-US" sz="900">
                <a:solidFill>
                  <a:srgbClr val="6B6B6B"/>
                </a:solidFill>
                <a:latin typeface="Arial" pitchFamily="34" charset="0"/>
                <a:ea typeface="Arial" pitchFamily="34" charset="-122"/>
                <a:cs typeface="Arial" pitchFamily="34" charset="-120"/>
              </a:rPr>
              <a:t>Cap. 1 · Ejercicio: las V del Big Data</a:t>
            </a:r>
            <a:endParaRPr lang="en-US" sz="900"/>
          </a:p>
        </p:txBody>
      </p:sp>
      <p:sp>
        <p:nvSpPr>
          <p:cNvPr id="21" name="Text 19"/>
          <p:cNvSpPr txBox="1"/>
          <p:nvPr/>
        </p:nvSpPr>
        <p:spPr>
          <a:xfrm>
            <a:off x="8074152" y="6510528"/>
            <a:ext cx="3657600" cy="274320"/>
          </a:xfrm>
          <a:prstGeom prst="rect">
            <a:avLst/>
          </a:prstGeom>
          <a:noFill/>
          <a:ln/>
        </p:spPr>
        <p:txBody>
          <a:bodyPr wrap="square" lIns="0" tIns="0" rIns="0" bIns="0" rtlCol="0" anchor="ctr"/>
          <a:lstStyle/>
          <a:p>
            <a:pPr marL="0" indent="0" algn="r">
              <a:buNone/>
            </a:pPr>
            <a:r>
              <a:rPr lang="en-US" sz="900">
                <a:solidFill>
                  <a:srgbClr val="6B6B6B"/>
                </a:solidFill>
                <a:latin typeface="Arial" pitchFamily="34" charset="0"/>
                <a:ea typeface="Arial" pitchFamily="34" charset="-122"/>
                <a:cs typeface="Arial" pitchFamily="34" charset="-120"/>
              </a:rPr>
              <a:t>Bases de Datos · DAM/DAW</a:t>
            </a:r>
            <a:endParaRPr lang="en-US" sz="90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DDDDDD"/>
        </a:solidFill>
        <a:effectLst/>
      </p:bgPr>
    </p:bg>
    <p:spTree>
      <p:nvGrpSpPr>
        <p:cNvPr id="1" name=""/>
        <p:cNvGrpSpPr/>
        <p:nvPr/>
      </p:nvGrpSpPr>
      <p:grpSpPr>
        <a:xfrm>
          <a:off x="0" y="0"/>
          <a:ext cx="0" cy="0"/>
          <a:chOff x="0" y="0"/>
          <a:chExt cx="0" cy="0"/>
        </a:xfrm>
      </p:grpSpPr>
      <p:sp>
        <p:nvSpPr>
          <p:cNvPr id="2" name="Text 0"/>
          <p:cNvSpPr txBox="1"/>
          <p:nvPr/>
        </p:nvSpPr>
        <p:spPr>
          <a:xfrm>
            <a:off x="548640" y="320040"/>
            <a:ext cx="10789920" cy="292608"/>
          </a:xfrm>
          <a:prstGeom prst="rect">
            <a:avLst/>
          </a:prstGeom>
          <a:noFill/>
          <a:ln/>
        </p:spPr>
        <p:txBody>
          <a:bodyPr wrap="square" lIns="0" tIns="0" rIns="0" bIns="0" rtlCol="0" anchor="ctr"/>
          <a:lstStyle/>
          <a:p>
            <a:pPr marL="0" indent="0">
              <a:buNone/>
            </a:pPr>
            <a:r>
              <a:rPr lang="en-US" sz="1150" b="1" kern="0" spc="50">
                <a:solidFill>
                  <a:srgbClr val="028090"/>
                </a:solidFill>
                <a:latin typeface="Arial" pitchFamily="34" charset="0"/>
                <a:ea typeface="Arial" pitchFamily="34" charset="-122"/>
                <a:cs typeface="Arial" pitchFamily="34" charset="-120"/>
              </a:rPr>
              <a:t>REPASO DEL CAPÍTULO 1</a:t>
            </a:r>
            <a:endParaRPr lang="en-US" sz="1150"/>
          </a:p>
        </p:txBody>
      </p:sp>
      <p:sp>
        <p:nvSpPr>
          <p:cNvPr id="3" name="Text 1"/>
          <p:cNvSpPr txBox="1"/>
          <p:nvPr/>
        </p:nvSpPr>
        <p:spPr>
          <a:xfrm>
            <a:off x="548640" y="621792"/>
            <a:ext cx="10789920" cy="685800"/>
          </a:xfrm>
          <a:prstGeom prst="rect">
            <a:avLst/>
          </a:prstGeom>
          <a:noFill/>
          <a:ln/>
        </p:spPr>
        <p:txBody>
          <a:bodyPr wrap="square" lIns="0" tIns="0" rIns="0" bIns="0" rtlCol="0" anchor="ctr"/>
          <a:lstStyle/>
          <a:p>
            <a:pPr marL="0" indent="0">
              <a:buNone/>
            </a:pPr>
            <a:r>
              <a:rPr lang="en-US" sz="2400" b="1">
                <a:solidFill>
                  <a:srgbClr val="1A1A1A"/>
                </a:solidFill>
                <a:latin typeface="Arial" pitchFamily="34" charset="0"/>
                <a:ea typeface="Arial" pitchFamily="34" charset="-122"/>
                <a:cs typeface="Arial" pitchFamily="34" charset="-120"/>
              </a:rPr>
              <a:t>Al acabar este bloque tienes que ser capaz de...</a:t>
            </a:r>
            <a:endParaRPr lang="en-US" sz="2400"/>
          </a:p>
        </p:txBody>
      </p:sp>
      <p:sp>
        <p:nvSpPr>
          <p:cNvPr id="4" name="Text 2"/>
          <p:cNvSpPr txBox="1"/>
          <p:nvPr/>
        </p:nvSpPr>
        <p:spPr>
          <a:xfrm>
            <a:off x="548640" y="1600200"/>
            <a:ext cx="8686800" cy="4389120"/>
          </a:xfrm>
          <a:prstGeom prst="rect">
            <a:avLst/>
          </a:prstGeom>
          <a:noFill/>
          <a:ln/>
        </p:spPr>
        <p:txBody>
          <a:bodyPr wrap="square" lIns="0" tIns="0" rIns="0" bIns="0" rtlCol="0" anchor="t"/>
          <a:lstStyle/>
          <a:p>
            <a:pPr marL="342900" indent="-342900">
              <a:lnSpc>
                <a:spcPct val="130000"/>
              </a:lnSpc>
              <a:spcAft>
                <a:spcPts val="1200"/>
              </a:spcAft>
              <a:buSzPct val="100000"/>
              <a:buChar char="•"/>
            </a:pPr>
            <a:r>
              <a:rPr lang="en-US" sz="1400">
                <a:solidFill>
                  <a:srgbClr val="1A1A1A"/>
                </a:solidFill>
                <a:latin typeface="Arial" pitchFamily="34" charset="0"/>
                <a:ea typeface="Arial" pitchFamily="34" charset="-122"/>
                <a:cs typeface="Arial" pitchFamily="34" charset="-120"/>
              </a:rPr>
              <a:t>Explicar la diferencia entre guardar datos en ficheros y guardarlos en una base de datos, y los tres tipos de acceso a ficheros.</a:t>
            </a:r>
            <a:endParaRPr lang="en-US" sz="1400"/>
          </a:p>
          <a:p>
            <a:pPr marL="342900" indent="-342900">
              <a:lnSpc>
                <a:spcPct val="130000"/>
              </a:lnSpc>
              <a:spcAft>
                <a:spcPts val="1200"/>
              </a:spcAft>
              <a:buSzPct val="100000"/>
              <a:buChar char="•"/>
            </a:pPr>
            <a:r>
              <a:rPr lang="en-US" sz="1400">
                <a:solidFill>
                  <a:srgbClr val="1A1A1A"/>
                </a:solidFill>
                <a:latin typeface="Arial" pitchFamily="34" charset="0"/>
                <a:ea typeface="Arial" pitchFamily="34" charset="-122"/>
                <a:cs typeface="Arial" pitchFamily="34" charset="-120"/>
              </a:rPr>
              <a:t>Diferenciar una base de datos de un SGBD, y clasificar una base de datos según su modelo de datos (jerárquica, en red, relacional, orientada a objetos o NoSQL).</a:t>
            </a:r>
            <a:endParaRPr lang="en-US" sz="1400"/>
          </a:p>
          <a:p>
            <a:pPr marL="342900" indent="-342900">
              <a:lnSpc>
                <a:spcPct val="130000"/>
              </a:lnSpc>
              <a:spcAft>
                <a:spcPts val="1200"/>
              </a:spcAft>
              <a:buSzPct val="100000"/>
              <a:buChar char="•"/>
            </a:pPr>
            <a:r>
              <a:rPr lang="en-US" sz="1400">
                <a:solidFill>
                  <a:srgbClr val="1A1A1A"/>
                </a:solidFill>
                <a:latin typeface="Arial" pitchFamily="34" charset="0"/>
                <a:ea typeface="Arial" pitchFamily="34" charset="-122"/>
                <a:cs typeface="Arial" pitchFamily="34" charset="-120"/>
              </a:rPr>
              <a:t>Describir los tres niveles de una base de datos (externo, conceptual e interno) y para qué sirve separarlos.</a:t>
            </a:r>
            <a:endParaRPr lang="en-US" sz="1400"/>
          </a:p>
          <a:p>
            <a:pPr marL="342900" indent="-342900">
              <a:lnSpc>
                <a:spcPct val="130000"/>
              </a:lnSpc>
              <a:spcAft>
                <a:spcPts val="1200"/>
              </a:spcAft>
              <a:buSzPct val="100000"/>
              <a:buChar char="•"/>
            </a:pPr>
            <a:r>
              <a:rPr lang="en-US" sz="1400">
                <a:solidFill>
                  <a:srgbClr val="1A1A1A"/>
                </a:solidFill>
                <a:latin typeface="Arial" pitchFamily="34" charset="0"/>
                <a:ea typeface="Arial" pitchFamily="34" charset="-122"/>
                <a:cs typeface="Arial" pitchFamily="34" charset="-120"/>
              </a:rPr>
              <a:t>Explicar qué es una base de datos distribuida, por qué se fragmentan los datos y cuándo conviene cada opción.</a:t>
            </a:r>
            <a:endParaRPr lang="en-US" sz="1400"/>
          </a:p>
          <a:p>
            <a:pPr marL="342900" indent="-342900">
              <a:lnSpc>
                <a:spcPct val="130000"/>
              </a:lnSpc>
              <a:spcAft>
                <a:spcPts val="1200"/>
              </a:spcAft>
              <a:buSzPct val="100000"/>
              <a:buChar char="•"/>
            </a:pPr>
            <a:r>
              <a:rPr lang="en-US" sz="1400">
                <a:solidFill>
                  <a:srgbClr val="1A1A1A"/>
                </a:solidFill>
                <a:latin typeface="Arial" pitchFamily="34" charset="0"/>
                <a:ea typeface="Arial" pitchFamily="34" charset="-122"/>
                <a:cs typeface="Arial" pitchFamily="34" charset="-120"/>
              </a:rPr>
              <a:t>Contar para qué sirve un SGBD, qué lleva por dentro y nombrar los más conocidos, relacionales y no relacionales.</a:t>
            </a:r>
            <a:endParaRPr lang="en-US" sz="1400"/>
          </a:p>
          <a:p>
            <a:pPr marL="342900" indent="-342900">
              <a:lnSpc>
                <a:spcPct val="130000"/>
              </a:lnSpc>
              <a:spcAft>
                <a:spcPts val="1200"/>
              </a:spcAft>
              <a:buSzPct val="100000"/>
              <a:buChar char="•"/>
            </a:pPr>
            <a:r>
              <a:rPr lang="en-US" sz="1400">
                <a:solidFill>
                  <a:srgbClr val="1A1A1A"/>
                </a:solidFill>
                <a:latin typeface="Arial" pitchFamily="34" charset="0"/>
                <a:ea typeface="Arial" pitchFamily="34" charset="-122"/>
                <a:cs typeface="Arial" pitchFamily="34" charset="-120"/>
              </a:rPr>
              <a:t>Nombrar los principios básicos de la ley de protección de datos y aplicarlos a un caso concreto.</a:t>
            </a:r>
            <a:endParaRPr lang="en-US" sz="1400"/>
          </a:p>
          <a:p>
            <a:pPr marL="342900" indent="-342900">
              <a:lnSpc>
                <a:spcPct val="130000"/>
              </a:lnSpc>
              <a:spcAft>
                <a:spcPts val="1200"/>
              </a:spcAft>
              <a:buSzPct val="100000"/>
              <a:buChar char="•"/>
            </a:pPr>
            <a:r>
              <a:rPr lang="en-US" sz="1400">
                <a:solidFill>
                  <a:srgbClr val="1A1A1A"/>
                </a:solidFill>
                <a:latin typeface="Arial" pitchFamily="34" charset="0"/>
                <a:ea typeface="Arial" pitchFamily="34" charset="-122"/>
                <a:cs typeface="Arial" pitchFamily="34" charset="-120"/>
              </a:rPr>
              <a:t>Situar el Big Data y sus "V" en el panorama actual, y conectarlo con la inteligencia de negocio.</a:t>
            </a:r>
            <a:endParaRPr lang="en-US" sz="1400"/>
          </a:p>
          <a:p>
            <a:pPr marL="342900" indent="-342900">
              <a:lnSpc>
                <a:spcPct val="130000"/>
              </a:lnSpc>
              <a:spcAft>
                <a:spcPts val="1200"/>
              </a:spcAft>
              <a:buSzPct val="100000"/>
              <a:buChar char="•"/>
            </a:pPr>
            <a:r>
              <a:rPr lang="en-US" sz="1400">
                <a:solidFill>
                  <a:srgbClr val="1A1A1A"/>
                </a:solidFill>
                <a:latin typeface="Arial" pitchFamily="34" charset="0"/>
                <a:ea typeface="Arial" pitchFamily="34" charset="-122"/>
                <a:cs typeface="Arial" pitchFamily="34" charset="-120"/>
              </a:rPr>
              <a:t>Esto se corresponde con el RA1 y sus criterios de evaluación a) a j) del RD 405/2023.</a:t>
            </a:r>
            <a:endParaRPr lang="en-US" sz="1400"/>
          </a:p>
        </p:txBody>
      </p:sp>
      <p:sp>
        <p:nvSpPr>
          <p:cNvPr id="5" name="Text 3"/>
          <p:cNvSpPr txBox="1"/>
          <p:nvPr/>
        </p:nvSpPr>
        <p:spPr>
          <a:xfrm>
            <a:off x="457200" y="6510528"/>
            <a:ext cx="7315200" cy="274320"/>
          </a:xfrm>
          <a:prstGeom prst="rect">
            <a:avLst/>
          </a:prstGeom>
          <a:noFill/>
          <a:ln/>
        </p:spPr>
        <p:txBody>
          <a:bodyPr wrap="square" lIns="0" tIns="0" rIns="0" bIns="0" rtlCol="0" anchor="ctr"/>
          <a:lstStyle/>
          <a:p>
            <a:pPr marL="0" indent="0">
              <a:buNone/>
            </a:pPr>
            <a:r>
              <a:rPr lang="en-US" sz="900">
                <a:solidFill>
                  <a:srgbClr val="6B6B6B"/>
                </a:solidFill>
                <a:latin typeface="Arial" pitchFamily="34" charset="0"/>
                <a:ea typeface="Arial" pitchFamily="34" charset="-122"/>
                <a:cs typeface="Arial" pitchFamily="34" charset="-120"/>
              </a:rPr>
              <a:t>Cap. 1 · Repaso</a:t>
            </a:r>
            <a:endParaRPr lang="en-US" sz="900"/>
          </a:p>
        </p:txBody>
      </p:sp>
      <p:sp>
        <p:nvSpPr>
          <p:cNvPr id="6" name="Text 4"/>
          <p:cNvSpPr txBox="1"/>
          <p:nvPr/>
        </p:nvSpPr>
        <p:spPr>
          <a:xfrm>
            <a:off x="8074152" y="6510528"/>
            <a:ext cx="3657600" cy="274320"/>
          </a:xfrm>
          <a:prstGeom prst="rect">
            <a:avLst/>
          </a:prstGeom>
          <a:noFill/>
          <a:ln/>
        </p:spPr>
        <p:txBody>
          <a:bodyPr wrap="square" lIns="0" tIns="0" rIns="0" bIns="0" rtlCol="0" anchor="ctr"/>
          <a:lstStyle/>
          <a:p>
            <a:pPr marL="0" indent="0" algn="r">
              <a:buNone/>
            </a:pPr>
            <a:r>
              <a:rPr lang="en-US" sz="900">
                <a:solidFill>
                  <a:srgbClr val="6B6B6B"/>
                </a:solidFill>
                <a:latin typeface="Arial" pitchFamily="34" charset="0"/>
                <a:ea typeface="Arial" pitchFamily="34" charset="-122"/>
                <a:cs typeface="Arial" pitchFamily="34" charset="-120"/>
              </a:rPr>
              <a:t>Bases de Datos · DAM/DAW</a:t>
            </a:r>
            <a:endParaRPr lang="en-US" sz="90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3885168C3E0D36428D267CCD5D1A815C" ma:contentTypeVersion="3" ma:contentTypeDescription="Create a new document." ma:contentTypeScope="" ma:versionID="35d348bf7103b76e0dbf4bcc87306307">
  <xsd:schema xmlns:xsd="http://www.w3.org/2001/XMLSchema" xmlns:xs="http://www.w3.org/2001/XMLSchema" xmlns:p="http://schemas.microsoft.com/office/2006/metadata/properties" xmlns:ns2="52da9ef7-309a-42ff-b11f-dea33bd88458" targetNamespace="http://schemas.microsoft.com/office/2006/metadata/properties" ma:root="true" ma:fieldsID="8f4f7214fce73c3bd4b54d8b68877ae1" ns2:_="">
    <xsd:import namespace="52da9ef7-309a-42ff-b11f-dea33bd88458"/>
    <xsd:element name="properties">
      <xsd:complexType>
        <xsd:sequence>
          <xsd:element name="documentManagement">
            <xsd:complexType>
              <xsd:all>
                <xsd:element ref="ns2:MediaServiceMetadata" minOccurs="0"/>
                <xsd:element ref="ns2:MediaServiceFastMetadata"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2da9ef7-309a-42ff-b11f-dea33bd8845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93FE5163-C414-4F2F-B0FD-6EDE1F2C6E08}">
  <ds:schemaRefs>
    <ds:schemaRef ds:uri="http://schemas.microsoft.com/sharepoint/v3/contenttype/forms"/>
  </ds:schemaRefs>
</ds:datastoreItem>
</file>

<file path=customXml/itemProps2.xml><?xml version="1.0" encoding="utf-8"?>
<ds:datastoreItem xmlns:ds="http://schemas.openxmlformats.org/officeDocument/2006/customXml" ds:itemID="{93246CBD-53B3-4B2E-BAD9-83F66E0B5C08}">
  <ds:schemaRefs>
    <ds:schemaRef ds:uri="52da9ef7-309a-42ff-b11f-dea33bd88458"/>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5727B17E-3389-40C3-96FA-268E5E3E6C0B}">
  <ds:schemaRefs>
    <ds:schemaRef ds:uri="http://schemas.microsoft.com/office/2006/metadata/properties"/>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17</Slides>
  <Notes>17</Notes>
  <HiddenSlides>0</HiddenSlide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revision>1</cp:revision>
  <dcterms:created xsi:type="dcterms:W3CDTF">2026-09-08T18:30:20Z</dcterms:created>
  <dcterms:modified xsi:type="dcterms:W3CDTF">2026-09-18T10:42:26Z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0x0101003885168C3E0D36428D267CCD5D1A815C</vt:lpwstr>
  </property>
</Properties>
</file>